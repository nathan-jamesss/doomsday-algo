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0F12"/>
        </a:solidFill>
        <a:effectLst/>
      </p:bgPr>
    </p:bg>
    <p:spTree>
      <p:nvGrpSpPr>
        <p:cNvPr id="1" name=""/>
        <p:cNvGrpSpPr/>
        <p:nvPr/>
      </p:nvGrpSpPr>
      <p:grpSpPr/>
      <p:sp>
        <p:nvSpPr>
          <p:cNvPr id="2" name="Rectangle 1"/>
          <p:cNvSpPr/>
          <p:nvPr/>
        </p:nvSpPr>
        <p:spPr>
          <a:xfrm>
            <a:off x="0" y="0"/>
            <a:ext cx="82296" cy="6858000"/>
          </a:xfrm>
          <a:prstGeom prst="rect">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5904"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2940"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269976"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457013"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644049"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831086"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18122"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205158"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392195"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579231"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766267"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953304"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140340"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327376"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514413"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701449"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888486"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075522"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262558"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449595"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636631"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823667"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95904"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82940"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269976"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457013"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644049"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831086"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018122"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2205158"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392195"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579231"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766267"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953304"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140340"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327376"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514413"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701449"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888486"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075522"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262558"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449595"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636631"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4823667"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95904"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82940"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269976"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457013"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644049"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831086"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2018122"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2205158"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2392195"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2579231"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2766267"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2953304"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3140340"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3327376"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3514413"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3701449"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3888486"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4075522"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4262558"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4449595"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4636631"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4823667"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895904"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1082940"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1269976"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1457013"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1644049"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1831086"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2018122"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2205158"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2392195"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2579231"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2766267"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2953304"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3140340"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3327376"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3514413"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3701449"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3888486"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4075522"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4262558"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4449595"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4636631"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4823667"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895904"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1082940"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1269976"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1457013"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1644049"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1831086"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2018122"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2205158"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2392195"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2579231"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2766267"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2953304"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3140340"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3327376"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3514413"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3701449"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3888486"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4075522"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4262558"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4449595"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4636631"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4823667"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rot="21180000">
            <a:off x="9402775" y="502920"/>
            <a:ext cx="2148840" cy="868680"/>
          </a:xfrm>
          <a:prstGeom prst="rect">
            <a:avLst/>
          </a:prstGeom>
          <a:noFill/>
          <a:ln w="2540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rot="21180000">
            <a:off x="9402775" y="502920"/>
            <a:ext cx="2148840" cy="868680"/>
          </a:xfrm>
          <a:prstGeom prst="rect">
            <a:avLst/>
          </a:prstGeom>
          <a:noFill/>
        </p:spPr>
        <p:txBody>
          <a:bodyPr wrap="square" anchor="ctr" lIns="0" rIns="0" tIns="0" bIns="0">
            <a:noAutofit/>
          </a:bodyPr>
          <a:lstStyle/>
          <a:p>
            <a:pPr algn="ctr">
              <a:spcBef>
                <a:spcPts val="0"/>
              </a:spcBef>
              <a:spcAft>
                <a:spcPts val="100"/>
              </a:spcAft>
            </a:pPr>
            <a:r>
              <a:rPr sz="1200" b="1">
                <a:solidFill>
                  <a:srgbClr val="C9A227"/>
                </a:solidFill>
                <a:latin typeface="Courier New"/>
              </a:rPr>
              <a:t>EARTH-4471</a:t>
            </a:r>
          </a:p>
          <a:p>
            <a:pPr algn="ctr">
              <a:spcBef>
                <a:spcPts val="0"/>
              </a:spcBef>
              <a:spcAft>
                <a:spcPts val="100"/>
              </a:spcAft>
            </a:pPr>
            <a:r>
              <a:rPr sz="1200" b="1">
                <a:solidFill>
                  <a:srgbClr val="C9A227"/>
                </a:solidFill>
                <a:latin typeface="Courier New"/>
              </a:rPr>
              <a:t>CLASSIFIED</a:t>
            </a:r>
          </a:p>
        </p:txBody>
      </p:sp>
      <p:sp>
        <p:nvSpPr>
          <p:cNvPr id="115" name="TextBox 114"/>
          <p:cNvSpPr txBox="1"/>
          <p:nvPr/>
        </p:nvSpPr>
        <p:spPr>
          <a:xfrm>
            <a:off x="822960" y="1965960"/>
            <a:ext cx="10545775" cy="1737360"/>
          </a:xfrm>
          <a:prstGeom prst="rect">
            <a:avLst/>
          </a:prstGeom>
          <a:noFill/>
        </p:spPr>
        <p:txBody>
          <a:bodyPr wrap="square" anchor="ctr" lIns="0" rIns="0" tIns="0" bIns="0">
            <a:noAutofit/>
          </a:bodyPr>
          <a:lstStyle/>
          <a:p>
            <a:pPr algn="ctr"/>
            <a:r>
              <a:rPr sz="7600" b="1">
                <a:solidFill>
                  <a:srgbClr val="F2F0EA"/>
                </a:solidFill>
                <a:effectLst>
                  <a:glow rad="100584">
                    <a:srgbClr val="FF6B6B">
                      <a:alpha val="62000"/>
                    </a:srgbClr>
                  </a:glow>
                </a:effectLst>
                <a:latin typeface="Impact"/>
              </a:rPr>
              <a:t>DOOMSDAY</a:t>
            </a:r>
          </a:p>
          <a:p>
            <a:pPr algn="ctr"/>
            <a:r>
              <a:rPr sz="7600" b="1">
                <a:solidFill>
                  <a:srgbClr val="F2F0EA"/>
                </a:solidFill>
                <a:effectLst>
                  <a:glow rad="100584">
                    <a:srgbClr val="FF6B6B">
                      <a:alpha val="62000"/>
                    </a:srgbClr>
                  </a:glow>
                </a:effectLst>
                <a:latin typeface="Impact"/>
              </a:rPr>
              <a:t>ALGORITHM</a:t>
            </a:r>
          </a:p>
        </p:txBody>
      </p:sp>
      <p:sp>
        <p:nvSpPr>
          <p:cNvPr id="116" name="TextBox 115"/>
          <p:cNvSpPr txBox="1"/>
          <p:nvPr/>
        </p:nvSpPr>
        <p:spPr>
          <a:xfrm>
            <a:off x="822960" y="3703320"/>
            <a:ext cx="10545775" cy="457200"/>
          </a:xfrm>
          <a:prstGeom prst="rect">
            <a:avLst/>
          </a:prstGeom>
          <a:noFill/>
        </p:spPr>
        <p:txBody>
          <a:bodyPr wrap="square" anchor="t" lIns="0" rIns="0" tIns="0" bIns="0">
            <a:noAutofit/>
          </a:bodyPr>
          <a:lstStyle/>
          <a:p>
            <a:pPr algn="ctr">
              <a:spcBef>
                <a:spcPts val="0"/>
              </a:spcBef>
              <a:spcAft>
                <a:spcPts val="0"/>
              </a:spcAft>
            </a:pPr>
            <a:r>
              <a:rPr sz="1700" b="1">
                <a:solidFill>
                  <a:srgbClr val="C9A227"/>
                </a:solidFill>
                <a:latin typeface="Courier New"/>
              </a:rPr>
              <a:t>V-TAPP 2026  ·  DATA SCIENCE CLUB, VIT-AP</a:t>
            </a:r>
          </a:p>
        </p:txBody>
      </p:sp>
      <p:sp>
        <p:nvSpPr>
          <p:cNvPr id="117" name="TextBox 116"/>
          <p:cNvSpPr txBox="1"/>
          <p:nvPr/>
        </p:nvSpPr>
        <p:spPr>
          <a:xfrm>
            <a:off x="822960" y="4160520"/>
            <a:ext cx="10545775" cy="457200"/>
          </a:xfrm>
          <a:prstGeom prst="rect">
            <a:avLst/>
          </a:prstGeom>
          <a:noFill/>
        </p:spPr>
        <p:txBody>
          <a:bodyPr wrap="square" anchor="t" lIns="0" rIns="0" tIns="0" bIns="0">
            <a:noAutofit/>
          </a:bodyPr>
          <a:lstStyle/>
          <a:p>
            <a:pPr algn="ctr">
              <a:spcBef>
                <a:spcPts val="0"/>
              </a:spcBef>
              <a:spcAft>
                <a:spcPts val="0"/>
              </a:spcAft>
            </a:pPr>
            <a:r>
              <a:rPr sz="2000" b="1">
                <a:solidFill>
                  <a:srgbClr val="E23636"/>
                </a:solidFill>
                <a:latin typeface="Courier New"/>
              </a:rPr>
              <a:t>SEPT 11, 2026   ·   09:00 -- 18:00</a:t>
            </a:r>
          </a:p>
        </p:txBody>
      </p:sp>
      <p:sp>
        <p:nvSpPr>
          <p:cNvPr id="118" name="TextBox 117"/>
          <p:cNvSpPr txBox="1"/>
          <p:nvPr/>
        </p:nvSpPr>
        <p:spPr>
          <a:xfrm>
            <a:off x="1737360" y="4800600"/>
            <a:ext cx="8716975" cy="822960"/>
          </a:xfrm>
          <a:prstGeom prst="rect">
            <a:avLst/>
          </a:prstGeom>
          <a:noFill/>
        </p:spPr>
        <p:txBody>
          <a:bodyPr wrap="square" anchor="t" lIns="0" rIns="0" tIns="0" bIns="0">
            <a:noAutofit/>
          </a:bodyPr>
          <a:lstStyle/>
          <a:p>
            <a:pPr algn="ctr">
              <a:lnSpc>
                <a:spcPct val="125000"/>
              </a:lnSpc>
              <a:spcBef>
                <a:spcPts val="0"/>
              </a:spcBef>
              <a:spcAft>
                <a:spcPts val="0"/>
              </a:spcAft>
            </a:pPr>
            <a:r>
              <a:rPr sz="1350" b="0">
                <a:solidFill>
                  <a:srgbClr val="F2F0EA"/>
                </a:solidFill>
                <a:latin typeface="Arial"/>
              </a:rPr>
              <a:t>Every fact in this dataset was invented for this event. Earth-4471 doesn’t answer to Google, or your LLM.</a:t>
            </a:r>
          </a:p>
        </p:txBody>
      </p:sp>
      <p:sp>
        <p:nvSpPr>
          <p:cNvPr id="119" name="Rectangle 118"/>
          <p:cNvSpPr/>
          <p:nvPr/>
        </p:nvSpPr>
        <p:spPr>
          <a:xfrm>
            <a:off x="0" y="6473952"/>
            <a:ext cx="12191695" cy="38404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Parallelogram 119"/>
          <p:cNvSpPr/>
          <p:nvPr/>
        </p:nvSpPr>
        <p:spPr>
          <a:xfrm>
            <a:off x="-441655" y="6473952"/>
            <a:ext cx="441655" cy="384048"/>
          </a:xfrm>
          <a:prstGeom prst="parallelogram">
            <a:avLst>
              <a:gd name="adj" fmla="val 55000"/>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Parallelogram 120"/>
          <p:cNvSpPr/>
          <p:nvPr/>
        </p:nvSpPr>
        <p:spPr>
          <a:xfrm>
            <a:off x="0" y="6473952"/>
            <a:ext cx="441655" cy="384048"/>
          </a:xfrm>
          <a:prstGeom prst="parallelogram">
            <a:avLst>
              <a:gd name="adj" fmla="val 55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Parallelogram 121"/>
          <p:cNvSpPr/>
          <p:nvPr/>
        </p:nvSpPr>
        <p:spPr>
          <a:xfrm>
            <a:off x="441655" y="6473952"/>
            <a:ext cx="441655" cy="384048"/>
          </a:xfrm>
          <a:prstGeom prst="parallelogram">
            <a:avLst>
              <a:gd name="adj" fmla="val 55000"/>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Parallelogram 122"/>
          <p:cNvSpPr/>
          <p:nvPr/>
        </p:nvSpPr>
        <p:spPr>
          <a:xfrm>
            <a:off x="883310" y="6473952"/>
            <a:ext cx="441655" cy="384048"/>
          </a:xfrm>
          <a:prstGeom prst="parallelogram">
            <a:avLst>
              <a:gd name="adj" fmla="val 55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Parallelogram 123"/>
          <p:cNvSpPr/>
          <p:nvPr/>
        </p:nvSpPr>
        <p:spPr>
          <a:xfrm>
            <a:off x="1324965" y="6473952"/>
            <a:ext cx="441655" cy="384048"/>
          </a:xfrm>
          <a:prstGeom prst="parallelogram">
            <a:avLst>
              <a:gd name="adj" fmla="val 55000"/>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Parallelogram 124"/>
          <p:cNvSpPr/>
          <p:nvPr/>
        </p:nvSpPr>
        <p:spPr>
          <a:xfrm>
            <a:off x="1766620" y="6473952"/>
            <a:ext cx="441655" cy="384048"/>
          </a:xfrm>
          <a:prstGeom prst="parallelogram">
            <a:avLst>
              <a:gd name="adj" fmla="val 55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Parallelogram 125"/>
          <p:cNvSpPr/>
          <p:nvPr/>
        </p:nvSpPr>
        <p:spPr>
          <a:xfrm>
            <a:off x="2208275" y="6473952"/>
            <a:ext cx="441655" cy="384048"/>
          </a:xfrm>
          <a:prstGeom prst="parallelogram">
            <a:avLst>
              <a:gd name="adj" fmla="val 55000"/>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Parallelogram 126"/>
          <p:cNvSpPr/>
          <p:nvPr/>
        </p:nvSpPr>
        <p:spPr>
          <a:xfrm>
            <a:off x="2649931" y="6473952"/>
            <a:ext cx="441655" cy="384048"/>
          </a:xfrm>
          <a:prstGeom prst="parallelogram">
            <a:avLst>
              <a:gd name="adj" fmla="val 55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Parallelogram 127"/>
          <p:cNvSpPr/>
          <p:nvPr/>
        </p:nvSpPr>
        <p:spPr>
          <a:xfrm>
            <a:off x="3091586" y="6473952"/>
            <a:ext cx="441655" cy="384048"/>
          </a:xfrm>
          <a:prstGeom prst="parallelogram">
            <a:avLst>
              <a:gd name="adj" fmla="val 55000"/>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Parallelogram 128"/>
          <p:cNvSpPr/>
          <p:nvPr/>
        </p:nvSpPr>
        <p:spPr>
          <a:xfrm>
            <a:off x="3533241" y="6473952"/>
            <a:ext cx="441655" cy="384048"/>
          </a:xfrm>
          <a:prstGeom prst="parallelogram">
            <a:avLst>
              <a:gd name="adj" fmla="val 55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Parallelogram 129"/>
          <p:cNvSpPr/>
          <p:nvPr/>
        </p:nvSpPr>
        <p:spPr>
          <a:xfrm>
            <a:off x="3974896" y="6473952"/>
            <a:ext cx="441655" cy="384048"/>
          </a:xfrm>
          <a:prstGeom prst="parallelogram">
            <a:avLst>
              <a:gd name="adj" fmla="val 55000"/>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Parallelogram 130"/>
          <p:cNvSpPr/>
          <p:nvPr/>
        </p:nvSpPr>
        <p:spPr>
          <a:xfrm>
            <a:off x="4416551" y="6473952"/>
            <a:ext cx="441655" cy="384048"/>
          </a:xfrm>
          <a:prstGeom prst="parallelogram">
            <a:avLst>
              <a:gd name="adj" fmla="val 55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Parallelogram 131"/>
          <p:cNvSpPr/>
          <p:nvPr/>
        </p:nvSpPr>
        <p:spPr>
          <a:xfrm>
            <a:off x="4858207" y="6473952"/>
            <a:ext cx="441655" cy="384048"/>
          </a:xfrm>
          <a:prstGeom prst="parallelogram">
            <a:avLst>
              <a:gd name="adj" fmla="val 55000"/>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Parallelogram 132"/>
          <p:cNvSpPr/>
          <p:nvPr/>
        </p:nvSpPr>
        <p:spPr>
          <a:xfrm>
            <a:off x="5299862" y="6473952"/>
            <a:ext cx="441655" cy="384048"/>
          </a:xfrm>
          <a:prstGeom prst="parallelogram">
            <a:avLst>
              <a:gd name="adj" fmla="val 55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Parallelogram 133"/>
          <p:cNvSpPr/>
          <p:nvPr/>
        </p:nvSpPr>
        <p:spPr>
          <a:xfrm>
            <a:off x="5741517" y="6473952"/>
            <a:ext cx="441655" cy="384048"/>
          </a:xfrm>
          <a:prstGeom prst="parallelogram">
            <a:avLst>
              <a:gd name="adj" fmla="val 55000"/>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Parallelogram 134"/>
          <p:cNvSpPr/>
          <p:nvPr/>
        </p:nvSpPr>
        <p:spPr>
          <a:xfrm>
            <a:off x="6183172" y="6473952"/>
            <a:ext cx="441655" cy="384048"/>
          </a:xfrm>
          <a:prstGeom prst="parallelogram">
            <a:avLst>
              <a:gd name="adj" fmla="val 55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Parallelogram 135"/>
          <p:cNvSpPr/>
          <p:nvPr/>
        </p:nvSpPr>
        <p:spPr>
          <a:xfrm>
            <a:off x="6624827" y="6473952"/>
            <a:ext cx="441655" cy="384048"/>
          </a:xfrm>
          <a:prstGeom prst="parallelogram">
            <a:avLst>
              <a:gd name="adj" fmla="val 55000"/>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Parallelogram 136"/>
          <p:cNvSpPr/>
          <p:nvPr/>
        </p:nvSpPr>
        <p:spPr>
          <a:xfrm>
            <a:off x="7066483" y="6473952"/>
            <a:ext cx="441655" cy="384048"/>
          </a:xfrm>
          <a:prstGeom prst="parallelogram">
            <a:avLst>
              <a:gd name="adj" fmla="val 55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Parallelogram 137"/>
          <p:cNvSpPr/>
          <p:nvPr/>
        </p:nvSpPr>
        <p:spPr>
          <a:xfrm>
            <a:off x="7508138" y="6473952"/>
            <a:ext cx="441655" cy="384048"/>
          </a:xfrm>
          <a:prstGeom prst="parallelogram">
            <a:avLst>
              <a:gd name="adj" fmla="val 55000"/>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Parallelogram 138"/>
          <p:cNvSpPr/>
          <p:nvPr/>
        </p:nvSpPr>
        <p:spPr>
          <a:xfrm>
            <a:off x="7949793" y="6473952"/>
            <a:ext cx="441655" cy="384048"/>
          </a:xfrm>
          <a:prstGeom prst="parallelogram">
            <a:avLst>
              <a:gd name="adj" fmla="val 55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Parallelogram 139"/>
          <p:cNvSpPr/>
          <p:nvPr/>
        </p:nvSpPr>
        <p:spPr>
          <a:xfrm>
            <a:off x="8391448" y="6473952"/>
            <a:ext cx="441655" cy="384048"/>
          </a:xfrm>
          <a:prstGeom prst="parallelogram">
            <a:avLst>
              <a:gd name="adj" fmla="val 55000"/>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Parallelogram 140"/>
          <p:cNvSpPr/>
          <p:nvPr/>
        </p:nvSpPr>
        <p:spPr>
          <a:xfrm>
            <a:off x="8833103" y="6473952"/>
            <a:ext cx="441655" cy="384048"/>
          </a:xfrm>
          <a:prstGeom prst="parallelogram">
            <a:avLst>
              <a:gd name="adj" fmla="val 55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Parallelogram 141"/>
          <p:cNvSpPr/>
          <p:nvPr/>
        </p:nvSpPr>
        <p:spPr>
          <a:xfrm>
            <a:off x="9274759" y="6473952"/>
            <a:ext cx="441655" cy="384048"/>
          </a:xfrm>
          <a:prstGeom prst="parallelogram">
            <a:avLst>
              <a:gd name="adj" fmla="val 55000"/>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Parallelogram 142"/>
          <p:cNvSpPr/>
          <p:nvPr/>
        </p:nvSpPr>
        <p:spPr>
          <a:xfrm>
            <a:off x="9716414" y="6473952"/>
            <a:ext cx="441655" cy="384048"/>
          </a:xfrm>
          <a:prstGeom prst="parallelogram">
            <a:avLst>
              <a:gd name="adj" fmla="val 55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Parallelogram 143"/>
          <p:cNvSpPr/>
          <p:nvPr/>
        </p:nvSpPr>
        <p:spPr>
          <a:xfrm>
            <a:off x="10158069" y="6473952"/>
            <a:ext cx="441655" cy="384048"/>
          </a:xfrm>
          <a:prstGeom prst="parallelogram">
            <a:avLst>
              <a:gd name="adj" fmla="val 55000"/>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Parallelogram 144"/>
          <p:cNvSpPr/>
          <p:nvPr/>
        </p:nvSpPr>
        <p:spPr>
          <a:xfrm>
            <a:off x="10599724" y="6473952"/>
            <a:ext cx="441655" cy="384048"/>
          </a:xfrm>
          <a:prstGeom prst="parallelogram">
            <a:avLst>
              <a:gd name="adj" fmla="val 55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Parallelogram 145"/>
          <p:cNvSpPr/>
          <p:nvPr/>
        </p:nvSpPr>
        <p:spPr>
          <a:xfrm>
            <a:off x="11041379" y="6473952"/>
            <a:ext cx="441655" cy="384048"/>
          </a:xfrm>
          <a:prstGeom prst="parallelogram">
            <a:avLst>
              <a:gd name="adj" fmla="val 55000"/>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Parallelogram 146"/>
          <p:cNvSpPr/>
          <p:nvPr/>
        </p:nvSpPr>
        <p:spPr>
          <a:xfrm>
            <a:off x="11483035" y="6473952"/>
            <a:ext cx="441655" cy="384048"/>
          </a:xfrm>
          <a:prstGeom prst="parallelogram">
            <a:avLst>
              <a:gd name="adj" fmla="val 55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Parallelogram 147"/>
          <p:cNvSpPr/>
          <p:nvPr/>
        </p:nvSpPr>
        <p:spPr>
          <a:xfrm>
            <a:off x="11924690" y="6473952"/>
            <a:ext cx="441655" cy="384048"/>
          </a:xfrm>
          <a:prstGeom prst="parallelogram">
            <a:avLst>
              <a:gd name="adj" fmla="val 55000"/>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Parallelogram 148"/>
          <p:cNvSpPr/>
          <p:nvPr/>
        </p:nvSpPr>
        <p:spPr>
          <a:xfrm>
            <a:off x="12366345" y="6473952"/>
            <a:ext cx="441655" cy="384048"/>
          </a:xfrm>
          <a:prstGeom prst="parallelogram">
            <a:avLst>
              <a:gd name="adj" fmla="val 55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0F12"/>
        </a:solidFill>
        <a:effectLst/>
      </p:bgPr>
    </p:bg>
    <p:spTree>
      <p:nvGrpSpPr>
        <p:cNvPr id="1" name=""/>
        <p:cNvGrpSpPr/>
        <p:nvPr/>
      </p:nvGrpSpPr>
      <p:grpSpPr/>
      <p:sp>
        <p:nvSpPr>
          <p:cNvPr id="2" name="Rectangle 1"/>
          <p:cNvSpPr/>
          <p:nvPr/>
        </p:nvSpPr>
        <p:spPr>
          <a:xfrm>
            <a:off x="0" y="0"/>
            <a:ext cx="82296" cy="6858000"/>
          </a:xfrm>
          <a:prstGeom prst="rect">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39677"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09494"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779312"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949129"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118946"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88763"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458580"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28397"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798214"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968032"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137849"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307666"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477483"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647300"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439677"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09494"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79312"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949129"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118946"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288763"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458580"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628397"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798214"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968032"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137849"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1307666"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1477483"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1647300"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439677"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609494"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779312"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49129"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118946"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288763"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458580"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628397"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798214"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968032"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1137849"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307666"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1477483"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647300"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2920" y="347472"/>
            <a:ext cx="7315200" cy="292608"/>
          </a:xfrm>
          <a:prstGeom prst="rect">
            <a:avLst/>
          </a:prstGeom>
          <a:noFill/>
        </p:spPr>
        <p:txBody>
          <a:bodyPr wrap="square" anchor="t" lIns="0" rIns="0" tIns="0" bIns="0">
            <a:noAutofit/>
          </a:bodyPr>
          <a:lstStyle/>
          <a:p>
            <a:pPr algn="l">
              <a:spcBef>
                <a:spcPts val="0"/>
              </a:spcBef>
              <a:spcAft>
                <a:spcPts val="0"/>
              </a:spcAft>
            </a:pPr>
            <a:r>
              <a:rPr sz="1300" b="1">
                <a:solidFill>
                  <a:srgbClr val="C9A227"/>
                </a:solidFill>
                <a:latin typeface="Courier New"/>
              </a:rPr>
              <a:t>01 / 11  --  THE PREMISE</a:t>
            </a:r>
          </a:p>
        </p:txBody>
      </p:sp>
      <p:sp>
        <p:nvSpPr>
          <p:cNvPr id="46" name="TextBox 45"/>
          <p:cNvSpPr txBox="1"/>
          <p:nvPr/>
        </p:nvSpPr>
        <p:spPr>
          <a:xfrm>
            <a:off x="502920" y="640080"/>
            <a:ext cx="11249863" cy="603504"/>
          </a:xfrm>
          <a:prstGeom prst="rect">
            <a:avLst/>
          </a:prstGeom>
          <a:noFill/>
        </p:spPr>
        <p:txBody>
          <a:bodyPr wrap="square" anchor="t" lIns="0" rIns="0" tIns="0" bIns="0">
            <a:noAutofit/>
          </a:bodyPr>
          <a:lstStyle/>
          <a:p>
            <a:pPr algn="l">
              <a:spcBef>
                <a:spcPts val="0"/>
              </a:spcBef>
              <a:spcAft>
                <a:spcPts val="0"/>
              </a:spcAft>
            </a:pPr>
            <a:r>
              <a:rPr sz="3400" b="0">
                <a:solidFill>
                  <a:srgbClr val="F2F0EA"/>
                </a:solidFill>
                <a:latin typeface="Impact"/>
              </a:rPr>
              <a:t>THIS IS NOT EARTH-616</a:t>
            </a:r>
          </a:p>
        </p:txBody>
      </p:sp>
      <p:sp>
        <p:nvSpPr>
          <p:cNvPr id="47" name="Rectangle 46"/>
          <p:cNvSpPr/>
          <p:nvPr/>
        </p:nvSpPr>
        <p:spPr>
          <a:xfrm>
            <a:off x="502920" y="1298448"/>
            <a:ext cx="11249863" cy="38100"/>
          </a:xfrm>
          <a:prstGeom prst="rect">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02920" y="6547104"/>
            <a:ext cx="6400800" cy="256032"/>
          </a:xfrm>
          <a:prstGeom prst="rect">
            <a:avLst/>
          </a:prstGeom>
          <a:noFill/>
        </p:spPr>
        <p:txBody>
          <a:bodyPr wrap="square" anchor="t" lIns="0" rIns="0" tIns="0" bIns="0">
            <a:noAutofit/>
          </a:bodyPr>
          <a:lstStyle/>
          <a:p>
            <a:pPr algn="l">
              <a:spcBef>
                <a:spcPts val="0"/>
              </a:spcBef>
              <a:spcAft>
                <a:spcPts val="0"/>
              </a:spcAft>
            </a:pPr>
            <a:r>
              <a:rPr sz="850" b="0">
                <a:solidFill>
                  <a:srgbClr val="4A4E54"/>
                </a:solidFill>
                <a:latin typeface="Courier New"/>
              </a:rPr>
              <a:t>DOOMSDAY ALGORITHM  //  V-TAPP 2026  //  DATA SCIENCE CLUB, VIT-AP</a:t>
            </a:r>
          </a:p>
        </p:txBody>
      </p:sp>
      <p:sp>
        <p:nvSpPr>
          <p:cNvPr id="49" name="TextBox 48"/>
          <p:cNvSpPr txBox="1"/>
          <p:nvPr/>
        </p:nvSpPr>
        <p:spPr>
          <a:xfrm>
            <a:off x="502920" y="1572768"/>
            <a:ext cx="5989320" cy="2514600"/>
          </a:xfrm>
          <a:prstGeom prst="rect">
            <a:avLst/>
          </a:prstGeom>
          <a:noFill/>
        </p:spPr>
        <p:txBody>
          <a:bodyPr wrap="square" anchor="t" lIns="0" rIns="0" tIns="0" bIns="0">
            <a:noAutofit/>
          </a:bodyPr>
          <a:lstStyle/>
          <a:p>
            <a:pPr algn="l">
              <a:lnSpc>
                <a:spcPct val="122000"/>
              </a:lnSpc>
              <a:spcBef>
                <a:spcPts val="0"/>
              </a:spcBef>
              <a:spcAft>
                <a:spcPts val="1000"/>
              </a:spcAft>
            </a:pPr>
            <a:r>
              <a:rPr sz="1400" b="0">
                <a:solidFill>
                  <a:srgbClr val="F2F0EA"/>
                </a:solidFill>
                <a:latin typeface="Arial"/>
              </a:rPr>
              <a:t>Teams get a dataset from Earth-4471 — a parallel Marvel universe. Real names, fabricated facts.</a:t>
            </a:r>
          </a:p>
          <a:p>
            <a:pPr algn="l">
              <a:lnSpc>
                <a:spcPct val="122000"/>
              </a:lnSpc>
              <a:spcBef>
                <a:spcPts val="0"/>
              </a:spcBef>
              <a:spcAft>
                <a:spcPts val="1000"/>
              </a:spcAft>
            </a:pPr>
            <a:r>
              <a:rPr sz="1400" b="0">
                <a:solidFill>
                  <a:srgbClr val="F2F0EA"/>
                </a:solidFill>
                <a:latin typeface="Arial"/>
              </a:rPr>
              <a:t>Four completed Phases (28 films, 60 characters) are public. Phase 5 hasn’t happened yet — you have to predict what it holds.</a:t>
            </a:r>
          </a:p>
          <a:p>
            <a:pPr algn="l">
              <a:lnSpc>
                <a:spcPct val="122000"/>
              </a:lnSpc>
              <a:spcBef>
                <a:spcPts val="0"/>
              </a:spcBef>
              <a:spcAft>
                <a:spcPts val="0"/>
              </a:spcAft>
            </a:pPr>
            <a:r>
              <a:rPr sz="1400" b="1">
                <a:solidFill>
                  <a:srgbClr val="FF6B6B"/>
                </a:solidFill>
                <a:latin typeface="Arial"/>
              </a:rPr>
              <a:t>The answers can’t be looked up — not Google, not an LLM, not the real MCU. This is not Earth-616.</a:t>
            </a:r>
          </a:p>
        </p:txBody>
      </p:sp>
      <p:sp>
        <p:nvSpPr>
          <p:cNvPr id="50" name="Rectangle 49"/>
          <p:cNvSpPr/>
          <p:nvPr/>
        </p:nvSpPr>
        <p:spPr>
          <a:xfrm>
            <a:off x="557784" y="4398264"/>
            <a:ext cx="5989320" cy="17830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02920" y="4343400"/>
            <a:ext cx="5989320" cy="1783080"/>
          </a:xfrm>
          <a:prstGeom prst="rect">
            <a:avLst/>
          </a:prstGeom>
          <a:solidFill>
            <a:srgbClr val="0C0F12"/>
          </a:solidFill>
          <a:ln w="31750">
            <a:solidFill>
              <a:srgbClr val="2ECC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04088" y="4480560"/>
            <a:ext cx="5586983" cy="1508760"/>
          </a:xfrm>
          <a:prstGeom prst="rect">
            <a:avLst/>
          </a:prstGeom>
          <a:noFill/>
        </p:spPr>
        <p:txBody>
          <a:bodyPr wrap="square" anchor="t" lIns="0" rIns="0" tIns="0" bIns="0">
            <a:noAutofit/>
          </a:bodyPr>
          <a:lstStyle/>
          <a:p>
            <a:pPr algn="l">
              <a:spcBef>
                <a:spcPts val="0"/>
              </a:spcBef>
              <a:spcAft>
                <a:spcPts val="800"/>
              </a:spcAft>
            </a:pPr>
            <a:r>
              <a:rPr sz="1900" b="0">
                <a:solidFill>
                  <a:srgbClr val="58D68D"/>
                </a:solidFill>
                <a:latin typeface="Impact"/>
              </a:rPr>
              <a:t>CATCH A TRAP → POINTS IN ROUND 4</a:t>
            </a:r>
          </a:p>
          <a:p>
            <a:pPr algn="l">
              <a:lnSpc>
                <a:spcPct val="120000"/>
              </a:lnSpc>
              <a:spcBef>
                <a:spcPts val="0"/>
              </a:spcBef>
              <a:spcAft>
                <a:spcPts val="0"/>
              </a:spcAft>
            </a:pPr>
            <a:r>
              <a:rPr sz="1250" b="0">
                <a:solidFill>
                  <a:srgbClr val="F2F0EA"/>
                </a:solidFill>
                <a:latin typeface="Arial"/>
              </a:rPr>
              <a:t>Round 4 rewards teams who name a trap and show how they handled it — checked against the checklist judges use.</a:t>
            </a:r>
          </a:p>
        </p:txBody>
      </p:sp>
      <p:sp>
        <p:nvSpPr>
          <p:cNvPr id="53" name="Rectangle 52"/>
          <p:cNvSpPr/>
          <p:nvPr/>
        </p:nvSpPr>
        <p:spPr>
          <a:xfrm>
            <a:off x="6862571" y="1623060"/>
            <a:ext cx="4940503" cy="148132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812279" y="1572768"/>
            <a:ext cx="4940503" cy="1481328"/>
          </a:xfrm>
          <a:prstGeom prst="rect">
            <a:avLst/>
          </a:prstGeom>
          <a:solidFill>
            <a:srgbClr val="000000"/>
          </a:solidFill>
          <a:ln w="31750">
            <a:solidFill>
              <a:srgbClr val="E2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013447" y="1682495"/>
            <a:ext cx="822960" cy="365760"/>
          </a:xfrm>
          <a:prstGeom prst="rect">
            <a:avLst/>
          </a:prstGeom>
          <a:noFill/>
        </p:spPr>
        <p:txBody>
          <a:bodyPr wrap="square" anchor="t" lIns="0" rIns="0" tIns="0" bIns="0">
            <a:noAutofit/>
          </a:bodyPr>
          <a:lstStyle/>
          <a:p>
            <a:pPr algn="l">
              <a:spcBef>
                <a:spcPts val="0"/>
              </a:spcBef>
              <a:spcAft>
                <a:spcPts val="0"/>
              </a:spcAft>
            </a:pPr>
            <a:r>
              <a:rPr sz="2200" b="1">
                <a:solidFill>
                  <a:srgbClr val="E23636"/>
                </a:solidFill>
                <a:latin typeface="Courier New"/>
              </a:rPr>
              <a:t>01</a:t>
            </a:r>
          </a:p>
        </p:txBody>
      </p:sp>
      <p:sp>
        <p:nvSpPr>
          <p:cNvPr id="56" name="TextBox 55"/>
          <p:cNvSpPr txBox="1"/>
          <p:nvPr/>
        </p:nvSpPr>
        <p:spPr>
          <a:xfrm>
            <a:off x="7589519" y="1691640"/>
            <a:ext cx="3980383" cy="329184"/>
          </a:xfrm>
          <a:prstGeom prst="rect">
            <a:avLst/>
          </a:prstGeom>
          <a:noFill/>
        </p:spPr>
        <p:txBody>
          <a:bodyPr wrap="square" anchor="t" lIns="0" rIns="0" tIns="0" bIns="0">
            <a:noAutofit/>
          </a:bodyPr>
          <a:lstStyle/>
          <a:p>
            <a:pPr algn="l">
              <a:spcBef>
                <a:spcPts val="0"/>
              </a:spcBef>
              <a:spcAft>
                <a:spcPts val="0"/>
              </a:spcAft>
            </a:pPr>
            <a:r>
              <a:rPr sz="1650" b="0">
                <a:solidFill>
                  <a:srgbClr val="F2F0EA"/>
                </a:solidFill>
                <a:latin typeface="Impact"/>
              </a:rPr>
              <a:t>SIMPSON’S PARADOX</a:t>
            </a:r>
          </a:p>
        </p:txBody>
      </p:sp>
      <p:sp>
        <p:nvSpPr>
          <p:cNvPr id="57" name="TextBox 56"/>
          <p:cNvSpPr txBox="1"/>
          <p:nvPr/>
        </p:nvSpPr>
        <p:spPr>
          <a:xfrm>
            <a:off x="7013447" y="2084832"/>
            <a:ext cx="4538167" cy="877824"/>
          </a:xfrm>
          <a:prstGeom prst="rect">
            <a:avLst/>
          </a:prstGeom>
          <a:noFill/>
        </p:spPr>
        <p:txBody>
          <a:bodyPr wrap="square" anchor="t" lIns="0" rIns="0" tIns="0" bIns="0">
            <a:noAutofit/>
          </a:bodyPr>
          <a:lstStyle/>
          <a:p>
            <a:pPr algn="l">
              <a:lnSpc>
                <a:spcPct val="115000"/>
              </a:lnSpc>
              <a:spcBef>
                <a:spcPts val="0"/>
              </a:spcBef>
              <a:spcAft>
                <a:spcPts val="0"/>
              </a:spcAft>
            </a:pPr>
            <a:r>
              <a:rPr sz="1100" b="0">
                <a:solidFill>
                  <a:srgbClr val="F2F0EA"/>
                </a:solidFill>
                <a:latin typeface="Arial"/>
              </a:rPr>
              <a:t>Pooled across phases, screentime vs. box office correlates negatively. Split by phase, it flips positive.</a:t>
            </a:r>
          </a:p>
        </p:txBody>
      </p:sp>
      <p:sp>
        <p:nvSpPr>
          <p:cNvPr id="58" name="Rectangle 57"/>
          <p:cNvSpPr/>
          <p:nvPr/>
        </p:nvSpPr>
        <p:spPr>
          <a:xfrm>
            <a:off x="6862571" y="3250692"/>
            <a:ext cx="4940503" cy="148132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812279" y="3200400"/>
            <a:ext cx="4940503" cy="1481328"/>
          </a:xfrm>
          <a:prstGeom prst="rect">
            <a:avLst/>
          </a:prstGeom>
          <a:solidFill>
            <a:srgbClr val="000000"/>
          </a:solidFill>
          <a:ln w="31750">
            <a:solidFill>
              <a:srgbClr val="E2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013447" y="3310128"/>
            <a:ext cx="822960" cy="365760"/>
          </a:xfrm>
          <a:prstGeom prst="rect">
            <a:avLst/>
          </a:prstGeom>
          <a:noFill/>
        </p:spPr>
        <p:txBody>
          <a:bodyPr wrap="square" anchor="t" lIns="0" rIns="0" tIns="0" bIns="0">
            <a:noAutofit/>
          </a:bodyPr>
          <a:lstStyle/>
          <a:p>
            <a:pPr algn="l">
              <a:spcBef>
                <a:spcPts val="0"/>
              </a:spcBef>
              <a:spcAft>
                <a:spcPts val="0"/>
              </a:spcAft>
            </a:pPr>
            <a:r>
              <a:rPr sz="2200" b="1">
                <a:solidFill>
                  <a:srgbClr val="E23636"/>
                </a:solidFill>
                <a:latin typeface="Courier New"/>
              </a:rPr>
              <a:t>02</a:t>
            </a:r>
          </a:p>
        </p:txBody>
      </p:sp>
      <p:sp>
        <p:nvSpPr>
          <p:cNvPr id="61" name="TextBox 60"/>
          <p:cNvSpPr txBox="1"/>
          <p:nvPr/>
        </p:nvSpPr>
        <p:spPr>
          <a:xfrm>
            <a:off x="7589519" y="3319272"/>
            <a:ext cx="3980383" cy="329184"/>
          </a:xfrm>
          <a:prstGeom prst="rect">
            <a:avLst/>
          </a:prstGeom>
          <a:noFill/>
        </p:spPr>
        <p:txBody>
          <a:bodyPr wrap="square" anchor="t" lIns="0" rIns="0" tIns="0" bIns="0">
            <a:noAutofit/>
          </a:bodyPr>
          <a:lstStyle/>
          <a:p>
            <a:pPr algn="l">
              <a:spcBef>
                <a:spcPts val="0"/>
              </a:spcBef>
              <a:spcAft>
                <a:spcPts val="0"/>
              </a:spcAft>
            </a:pPr>
            <a:r>
              <a:rPr sz="1650" b="0">
                <a:solidFill>
                  <a:srgbClr val="F2F0EA"/>
                </a:solidFill>
                <a:latin typeface="Impact"/>
              </a:rPr>
              <a:t>SURVIVORSHIP BIAS</a:t>
            </a:r>
          </a:p>
        </p:txBody>
      </p:sp>
      <p:sp>
        <p:nvSpPr>
          <p:cNvPr id="62" name="TextBox 61"/>
          <p:cNvSpPr txBox="1"/>
          <p:nvPr/>
        </p:nvSpPr>
        <p:spPr>
          <a:xfrm>
            <a:off x="7013447" y="3712464"/>
            <a:ext cx="4538167" cy="877824"/>
          </a:xfrm>
          <a:prstGeom prst="rect">
            <a:avLst/>
          </a:prstGeom>
          <a:noFill/>
        </p:spPr>
        <p:txBody>
          <a:bodyPr wrap="square" anchor="t" lIns="0" rIns="0" tIns="0" bIns="0">
            <a:noAutofit/>
          </a:bodyPr>
          <a:lstStyle/>
          <a:p>
            <a:pPr algn="l">
              <a:lnSpc>
                <a:spcPct val="115000"/>
              </a:lnSpc>
              <a:spcBef>
                <a:spcPts val="0"/>
              </a:spcBef>
              <a:spcAft>
                <a:spcPts val="0"/>
              </a:spcAft>
            </a:pPr>
            <a:r>
              <a:rPr sz="1100" b="0">
                <a:solidFill>
                  <a:srgbClr val="F2F0EA"/>
                </a:solidFill>
                <a:latin typeface="Arial"/>
              </a:rPr>
              <a:t>Missing from appearances.csv ≠ dead. They just haven’t debuted yet.</a:t>
            </a:r>
          </a:p>
        </p:txBody>
      </p:sp>
      <p:sp>
        <p:nvSpPr>
          <p:cNvPr id="63" name="Rectangle 62"/>
          <p:cNvSpPr/>
          <p:nvPr/>
        </p:nvSpPr>
        <p:spPr>
          <a:xfrm>
            <a:off x="6862571" y="4878324"/>
            <a:ext cx="4940503" cy="148132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812279" y="4828032"/>
            <a:ext cx="4940503" cy="1481328"/>
          </a:xfrm>
          <a:prstGeom prst="rect">
            <a:avLst/>
          </a:prstGeom>
          <a:solidFill>
            <a:srgbClr val="000000"/>
          </a:solidFill>
          <a:ln w="31750">
            <a:solidFill>
              <a:srgbClr val="E2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013447" y="4937760"/>
            <a:ext cx="822960" cy="365760"/>
          </a:xfrm>
          <a:prstGeom prst="rect">
            <a:avLst/>
          </a:prstGeom>
          <a:noFill/>
        </p:spPr>
        <p:txBody>
          <a:bodyPr wrap="square" anchor="t" lIns="0" rIns="0" tIns="0" bIns="0">
            <a:noAutofit/>
          </a:bodyPr>
          <a:lstStyle/>
          <a:p>
            <a:pPr algn="l">
              <a:spcBef>
                <a:spcPts val="0"/>
              </a:spcBef>
              <a:spcAft>
                <a:spcPts val="0"/>
              </a:spcAft>
            </a:pPr>
            <a:r>
              <a:rPr sz="2200" b="1">
                <a:solidFill>
                  <a:srgbClr val="E23636"/>
                </a:solidFill>
                <a:latin typeface="Courier New"/>
              </a:rPr>
              <a:t>03</a:t>
            </a:r>
          </a:p>
        </p:txBody>
      </p:sp>
      <p:sp>
        <p:nvSpPr>
          <p:cNvPr id="66" name="TextBox 65"/>
          <p:cNvSpPr txBox="1"/>
          <p:nvPr/>
        </p:nvSpPr>
        <p:spPr>
          <a:xfrm>
            <a:off x="7589519" y="4946904"/>
            <a:ext cx="3980383" cy="329184"/>
          </a:xfrm>
          <a:prstGeom prst="rect">
            <a:avLst/>
          </a:prstGeom>
          <a:noFill/>
        </p:spPr>
        <p:txBody>
          <a:bodyPr wrap="square" anchor="t" lIns="0" rIns="0" tIns="0" bIns="0">
            <a:noAutofit/>
          </a:bodyPr>
          <a:lstStyle/>
          <a:p>
            <a:pPr algn="l">
              <a:spcBef>
                <a:spcPts val="0"/>
              </a:spcBef>
              <a:spcAft>
                <a:spcPts val="0"/>
              </a:spcAft>
            </a:pPr>
            <a:r>
              <a:rPr sz="1650" b="0">
                <a:solidFill>
                  <a:srgbClr val="F2F0EA"/>
                </a:solidFill>
                <a:latin typeface="Impact"/>
              </a:rPr>
              <a:t>LEAKY COLUMN</a:t>
            </a:r>
          </a:p>
        </p:txBody>
      </p:sp>
      <p:sp>
        <p:nvSpPr>
          <p:cNvPr id="67" name="TextBox 66"/>
          <p:cNvSpPr txBox="1"/>
          <p:nvPr/>
        </p:nvSpPr>
        <p:spPr>
          <a:xfrm>
            <a:off x="7013447" y="5340096"/>
            <a:ext cx="4538167" cy="877824"/>
          </a:xfrm>
          <a:prstGeom prst="rect">
            <a:avLst/>
          </a:prstGeom>
          <a:noFill/>
        </p:spPr>
        <p:txBody>
          <a:bodyPr wrap="square" anchor="t" lIns="0" rIns="0" tIns="0" bIns="0">
            <a:noAutofit/>
          </a:bodyPr>
          <a:lstStyle/>
          <a:p>
            <a:pPr algn="l">
              <a:lnSpc>
                <a:spcPct val="115000"/>
              </a:lnSpc>
              <a:spcBef>
                <a:spcPts val="0"/>
              </a:spcBef>
              <a:spcAft>
                <a:spcPts val="0"/>
              </a:spcAft>
            </a:pPr>
            <a:r>
              <a:rPr sz="1100" b="0">
                <a:solidFill>
                  <a:srgbClr val="F2F0EA"/>
                </a:solidFill>
                <a:latin typeface="Arial"/>
              </a:rPr>
              <a:t>final_billing_position predicts survival perfectly — but it only exists after a film ships. Phase 5 rows can’t have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0F12"/>
        </a:solidFill>
        <a:effectLst/>
      </p:bgPr>
    </p:bg>
    <p:spTree>
      <p:nvGrpSpPr>
        <p:cNvPr id="1" name=""/>
        <p:cNvGrpSpPr/>
        <p:nvPr/>
      </p:nvGrpSpPr>
      <p:grpSpPr/>
      <p:sp>
        <p:nvSpPr>
          <p:cNvPr id="2" name="Rectangle 1"/>
          <p:cNvSpPr/>
          <p:nvPr/>
        </p:nvSpPr>
        <p:spPr>
          <a:xfrm>
            <a:off x="0" y="0"/>
            <a:ext cx="82296" cy="6858000"/>
          </a:xfrm>
          <a:prstGeom prst="rect">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39677"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09494"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779312"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949129"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118946"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88763"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458580"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28397"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798214"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968032"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137849"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307666"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477483"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647300"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439677"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09494"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79312"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949129"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118946"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288763"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458580"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628397"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798214"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968032"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137849"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1307666"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1477483"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1647300"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439677"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609494"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779312"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49129"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118946"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288763"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458580"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628397"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798214"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968032"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1137849"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307666"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1477483"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647300"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2920" y="347472"/>
            <a:ext cx="7315200" cy="292608"/>
          </a:xfrm>
          <a:prstGeom prst="rect">
            <a:avLst/>
          </a:prstGeom>
          <a:noFill/>
        </p:spPr>
        <p:txBody>
          <a:bodyPr wrap="square" anchor="t" lIns="0" rIns="0" tIns="0" bIns="0">
            <a:noAutofit/>
          </a:bodyPr>
          <a:lstStyle/>
          <a:p>
            <a:pPr algn="l">
              <a:spcBef>
                <a:spcPts val="0"/>
              </a:spcBef>
              <a:spcAft>
                <a:spcPts val="0"/>
              </a:spcAft>
            </a:pPr>
            <a:r>
              <a:rPr sz="1300" b="1">
                <a:solidFill>
                  <a:srgbClr val="C9A227"/>
                </a:solidFill>
                <a:latin typeface="Courier New"/>
              </a:rPr>
              <a:t>02 / 11  --  FORMAT</a:t>
            </a:r>
          </a:p>
        </p:txBody>
      </p:sp>
      <p:sp>
        <p:nvSpPr>
          <p:cNvPr id="46" name="TextBox 45"/>
          <p:cNvSpPr txBox="1"/>
          <p:nvPr/>
        </p:nvSpPr>
        <p:spPr>
          <a:xfrm>
            <a:off x="502920" y="640080"/>
            <a:ext cx="11249863" cy="603504"/>
          </a:xfrm>
          <a:prstGeom prst="rect">
            <a:avLst/>
          </a:prstGeom>
          <a:noFill/>
        </p:spPr>
        <p:txBody>
          <a:bodyPr wrap="square" anchor="t" lIns="0" rIns="0" tIns="0" bIns="0">
            <a:noAutofit/>
          </a:bodyPr>
          <a:lstStyle/>
          <a:p>
            <a:pPr algn="l">
              <a:spcBef>
                <a:spcPts val="0"/>
              </a:spcBef>
              <a:spcAft>
                <a:spcPts val="0"/>
              </a:spcAft>
            </a:pPr>
            <a:r>
              <a:rPr sz="3200" b="0">
                <a:solidFill>
                  <a:srgbClr val="F2F0EA"/>
                </a:solidFill>
                <a:latin typeface="Impact"/>
              </a:rPr>
              <a:t>DROP IN. PLAY. LEAVE.</a:t>
            </a:r>
          </a:p>
        </p:txBody>
      </p:sp>
      <p:sp>
        <p:nvSpPr>
          <p:cNvPr id="47" name="Rectangle 46"/>
          <p:cNvSpPr/>
          <p:nvPr/>
        </p:nvSpPr>
        <p:spPr>
          <a:xfrm>
            <a:off x="502920" y="1298448"/>
            <a:ext cx="11249863" cy="38100"/>
          </a:xfrm>
          <a:prstGeom prst="rect">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02920" y="6547104"/>
            <a:ext cx="6400800" cy="256032"/>
          </a:xfrm>
          <a:prstGeom prst="rect">
            <a:avLst/>
          </a:prstGeom>
          <a:noFill/>
        </p:spPr>
        <p:txBody>
          <a:bodyPr wrap="square" anchor="t" lIns="0" rIns="0" tIns="0" bIns="0">
            <a:noAutofit/>
          </a:bodyPr>
          <a:lstStyle/>
          <a:p>
            <a:pPr algn="l">
              <a:spcBef>
                <a:spcPts val="0"/>
              </a:spcBef>
              <a:spcAft>
                <a:spcPts val="0"/>
              </a:spcAft>
            </a:pPr>
            <a:r>
              <a:rPr sz="850" b="0">
                <a:solidFill>
                  <a:srgbClr val="4A4E54"/>
                </a:solidFill>
                <a:latin typeface="Courier New"/>
              </a:rPr>
              <a:t>DOOMSDAY ALGORITHM  //  V-TAPP 2026  //  DATA SCIENCE CLUB, VIT-AP</a:t>
            </a:r>
          </a:p>
        </p:txBody>
      </p:sp>
      <p:sp>
        <p:nvSpPr>
          <p:cNvPr id="49" name="TextBox 48"/>
          <p:cNvSpPr txBox="1"/>
          <p:nvPr/>
        </p:nvSpPr>
        <p:spPr>
          <a:xfrm>
            <a:off x="502920" y="1536192"/>
            <a:ext cx="11249863" cy="502920"/>
          </a:xfrm>
          <a:prstGeom prst="rect">
            <a:avLst/>
          </a:prstGeom>
          <a:noFill/>
        </p:spPr>
        <p:txBody>
          <a:bodyPr wrap="square" anchor="t" lIns="0" rIns="0" tIns="0" bIns="0">
            <a:noAutofit/>
          </a:bodyPr>
          <a:lstStyle/>
          <a:p>
            <a:pPr algn="l">
              <a:lnSpc>
                <a:spcPct val="120000"/>
              </a:lnSpc>
              <a:spcBef>
                <a:spcPts val="0"/>
              </a:spcBef>
              <a:spcAft>
                <a:spcPts val="0"/>
              </a:spcAft>
            </a:pPr>
            <a:r>
              <a:rPr sz="1350" b="0">
                <a:solidFill>
                  <a:srgbClr val="F2F0EA"/>
                </a:solidFill>
                <a:latin typeface="Arial"/>
              </a:rPr>
              <a:t>Arrive anytime in the 9-hour window. Play at your own pace — about 2.5–3 hours across four rounds. Last comfortable start: ~3:00 PM.</a:t>
            </a:r>
          </a:p>
        </p:txBody>
      </p:sp>
      <p:graphicFrame>
        <p:nvGraphicFramePr>
          <p:cNvPr id="50" name="Table 49"/>
          <p:cNvGraphicFramePr>
            <a:graphicFrameLocks noGrp="1"/>
          </p:cNvGraphicFramePr>
          <p:nvPr/>
        </p:nvGraphicFramePr>
        <p:xfrm>
          <a:off x="502920" y="2176272"/>
          <a:ext cx="11249862" cy="2788918"/>
        </p:xfrm>
        <a:graphic>
          <a:graphicData uri="http://schemas.openxmlformats.org/drawingml/2006/table">
            <a:tbl>
              <a:tblPr>
                <a:tableStyleId>{5940675A-B579-460E-94D1-54222C63F5DA}</a:tableStyleId>
              </a:tblPr>
              <a:tblGrid>
                <a:gridCol w="2960490"/>
                <a:gridCol w="2072343"/>
                <a:gridCol w="6217029"/>
              </a:tblGrid>
              <a:tr h="384048">
                <a:tc>
                  <a:txBody>
                    <a:bodyPr/>
                    <a:lstStyle/>
                    <a:p>
                      <a:pPr algn="l"/>
                      <a:r>
                        <a:rPr sz="1150" b="1">
                          <a:solidFill>
                            <a:srgbClr val="F2F0EA"/>
                          </a:solidFill>
                          <a:latin typeface="Arial"/>
                        </a:rPr>
                        <a:t>ROUND</a:t>
                      </a:r>
                    </a:p>
                  </a:txBody>
                  <a:tcPr marL="91440" marR="91440" marT="27432" marB="27432" anchor="ctr">
                    <a:solidFill>
                      <a:srgbClr val="E23636"/>
                    </a:solidFill>
                  </a:tcPr>
                </a:tc>
                <a:tc>
                  <a:txBody>
                    <a:bodyPr/>
                    <a:lstStyle/>
                    <a:p>
                      <a:pPr algn="ctr"/>
                      <a:r>
                        <a:rPr sz="1150" b="1">
                          <a:solidFill>
                            <a:srgbClr val="F2F0EA"/>
                          </a:solidFill>
                          <a:latin typeface="Arial"/>
                        </a:rPr>
                        <a:t>TIME</a:t>
                      </a:r>
                    </a:p>
                  </a:txBody>
                  <a:tcPr marL="91440" marR="91440" marT="27432" marB="27432" anchor="ctr">
                    <a:solidFill>
                      <a:srgbClr val="E23636"/>
                    </a:solidFill>
                  </a:tcPr>
                </a:tc>
                <a:tc>
                  <a:txBody>
                    <a:bodyPr/>
                    <a:lstStyle/>
                    <a:p>
                      <a:pPr algn="l"/>
                      <a:r>
                        <a:rPr sz="1150" b="1">
                          <a:solidFill>
                            <a:srgbClr val="F2F0EA"/>
                          </a:solidFill>
                          <a:latin typeface="Arial"/>
                        </a:rPr>
                        <a:t>WHAT HAPPENS</a:t>
                      </a:r>
                    </a:p>
                  </a:txBody>
                  <a:tcPr marL="91440" marR="91440" marT="27432" marB="27432" anchor="ctr">
                    <a:solidFill>
                      <a:srgbClr val="E23636"/>
                    </a:solidFill>
                  </a:tcPr>
                </a:tc>
              </a:tr>
              <a:tr h="480974">
                <a:tc>
                  <a:txBody>
                    <a:bodyPr/>
                    <a:lstStyle/>
                    <a:p>
                      <a:pPr algn="l"/>
                      <a:r>
                        <a:rPr sz="1150" b="0">
                          <a:solidFill>
                            <a:srgbClr val="F2F0EA"/>
                          </a:solidFill>
                          <a:latin typeface="Arial"/>
                        </a:rPr>
                        <a:t>0 · SETUP</a:t>
                      </a:r>
                    </a:p>
                  </a:txBody>
                  <a:tcPr marL="91440" marR="91440" marT="27432" marB="27432" anchor="ctr">
                    <a:solidFill>
                      <a:srgbClr val="0C0F12"/>
                    </a:solidFill>
                  </a:tcPr>
                </a:tc>
                <a:tc>
                  <a:txBody>
                    <a:bodyPr/>
                    <a:lstStyle/>
                    <a:p>
                      <a:pPr algn="ctr"/>
                      <a:r>
                        <a:rPr sz="1150" b="0">
                          <a:solidFill>
                            <a:srgbClr val="F2F0EA"/>
                          </a:solidFill>
                          <a:latin typeface="Courier New"/>
                        </a:rPr>
                        <a:t>5 MIN</a:t>
                      </a:r>
                    </a:p>
                  </a:txBody>
                  <a:tcPr marL="91440" marR="91440" marT="27432" marB="27432" anchor="ctr">
                    <a:solidFill>
                      <a:srgbClr val="0C0F12"/>
                    </a:solidFill>
                  </a:tcPr>
                </a:tc>
                <a:tc>
                  <a:txBody>
                    <a:bodyPr/>
                    <a:lstStyle/>
                    <a:p>
                      <a:pPr algn="l"/>
                      <a:r>
                        <a:rPr sz="1150" b="0">
                          <a:solidFill>
                            <a:srgbClr val="F2F0EA"/>
                          </a:solidFill>
                          <a:latin typeface="Arial"/>
                        </a:rPr>
                        <a:t>Pick a team ID, download the six CSVs</a:t>
                      </a:r>
                    </a:p>
                  </a:txBody>
                  <a:tcPr marL="91440" marR="91440" marT="27432" marB="27432" anchor="ctr">
                    <a:solidFill>
                      <a:srgbClr val="0C0F12"/>
                    </a:solidFill>
                  </a:tcPr>
                </a:tc>
              </a:tr>
              <a:tr h="480974">
                <a:tc>
                  <a:txBody>
                    <a:bodyPr/>
                    <a:lstStyle/>
                    <a:p>
                      <a:pPr algn="l"/>
                      <a:r>
                        <a:rPr sz="1150" b="0">
                          <a:solidFill>
                            <a:srgbClr val="F2F0EA"/>
                          </a:solidFill>
                          <a:latin typeface="Arial"/>
                        </a:rPr>
                        <a:t>1 · EXPLORE</a:t>
                      </a:r>
                    </a:p>
                  </a:txBody>
                  <a:tcPr marL="91440" marR="91440" marT="27432" marB="27432" anchor="ctr">
                    <a:solidFill>
                      <a:srgbClr val="0C0F12"/>
                    </a:solidFill>
                  </a:tcPr>
                </a:tc>
                <a:tc>
                  <a:txBody>
                    <a:bodyPr/>
                    <a:lstStyle/>
                    <a:p>
                      <a:pPr algn="ctr"/>
                      <a:r>
                        <a:rPr sz="1150" b="0">
                          <a:solidFill>
                            <a:srgbClr val="F2F0EA"/>
                          </a:solidFill>
                          <a:latin typeface="Courier New"/>
                        </a:rPr>
                        <a:t>30-45 MIN</a:t>
                      </a:r>
                    </a:p>
                  </a:txBody>
                  <a:tcPr marL="91440" marR="91440" marT="27432" marB="27432" anchor="ctr">
                    <a:solidFill>
                      <a:srgbClr val="0C0F12"/>
                    </a:solidFill>
                  </a:tcPr>
                </a:tc>
                <a:tc>
                  <a:txBody>
                    <a:bodyPr/>
                    <a:lstStyle/>
                    <a:p>
                      <a:pPr algn="l"/>
                      <a:r>
                        <a:rPr sz="1150" b="0">
                          <a:solidFill>
                            <a:srgbClr val="F2F0EA"/>
                          </a:solidFill>
                          <a:latin typeface="Arial"/>
                        </a:rPr>
                        <a:t>10 questions — answers are in the files</a:t>
                      </a:r>
                    </a:p>
                  </a:txBody>
                  <a:tcPr marL="91440" marR="91440" marT="27432" marB="27432" anchor="ctr">
                    <a:solidFill>
                      <a:srgbClr val="0C0F12"/>
                    </a:solidFill>
                  </a:tcPr>
                </a:tc>
              </a:tr>
              <a:tr h="480974">
                <a:tc>
                  <a:txBody>
                    <a:bodyPr/>
                    <a:lstStyle/>
                    <a:p>
                      <a:pPr algn="l"/>
                      <a:r>
                        <a:rPr sz="1150" b="0">
                          <a:solidFill>
                            <a:srgbClr val="F2F0EA"/>
                          </a:solidFill>
                          <a:latin typeface="Arial"/>
                        </a:rPr>
                        <a:t>2 · PREDICT</a:t>
                      </a:r>
                    </a:p>
                  </a:txBody>
                  <a:tcPr marL="91440" marR="91440" marT="27432" marB="27432" anchor="ctr">
                    <a:solidFill>
                      <a:srgbClr val="0C0F12"/>
                    </a:solidFill>
                  </a:tcPr>
                </a:tc>
                <a:tc>
                  <a:txBody>
                    <a:bodyPr/>
                    <a:lstStyle/>
                    <a:p>
                      <a:pPr algn="ctr"/>
                      <a:r>
                        <a:rPr sz="1150" b="0">
                          <a:solidFill>
                            <a:srgbClr val="F2F0EA"/>
                          </a:solidFill>
                          <a:latin typeface="Courier New"/>
                        </a:rPr>
                        <a:t>60-90 MIN</a:t>
                      </a:r>
                    </a:p>
                  </a:txBody>
                  <a:tcPr marL="91440" marR="91440" marT="27432" marB="27432" anchor="ctr">
                    <a:solidFill>
                      <a:srgbClr val="0C0F12"/>
                    </a:solidFill>
                  </a:tcPr>
                </a:tc>
                <a:tc>
                  <a:txBody>
                    <a:bodyPr/>
                    <a:lstStyle/>
                    <a:p>
                      <a:pPr algn="l"/>
                      <a:r>
                        <a:rPr sz="1150" b="0">
                          <a:solidFill>
                            <a:srgbClr val="F2F0EA"/>
                          </a:solidFill>
                          <a:latin typeface="Arial"/>
                        </a:rPr>
                        <a:t>24 questions about hidden Phase 5</a:t>
                      </a:r>
                    </a:p>
                  </a:txBody>
                  <a:tcPr marL="91440" marR="91440" marT="27432" marB="27432" anchor="ctr">
                    <a:solidFill>
                      <a:srgbClr val="0C0F12"/>
                    </a:solidFill>
                  </a:tcPr>
                </a:tc>
              </a:tr>
              <a:tr h="480974">
                <a:tc>
                  <a:txBody>
                    <a:bodyPr/>
                    <a:lstStyle/>
                    <a:p>
                      <a:pPr algn="l"/>
                      <a:r>
                        <a:rPr sz="1150" b="0">
                          <a:solidFill>
                            <a:srgbClr val="F2F0EA"/>
                          </a:solidFill>
                          <a:latin typeface="Arial"/>
                        </a:rPr>
                        <a:t>3 · DRAFT</a:t>
                      </a:r>
                    </a:p>
                  </a:txBody>
                  <a:tcPr marL="91440" marR="91440" marT="27432" marB="27432" anchor="ctr">
                    <a:solidFill>
                      <a:srgbClr val="0C0F12"/>
                    </a:solidFill>
                  </a:tcPr>
                </a:tc>
                <a:tc>
                  <a:txBody>
                    <a:bodyPr/>
                    <a:lstStyle/>
                    <a:p>
                      <a:pPr algn="ctr"/>
                      <a:r>
                        <a:rPr sz="1150" b="0">
                          <a:solidFill>
                            <a:srgbClr val="F2F0EA"/>
                          </a:solidFill>
                          <a:latin typeface="Courier New"/>
                        </a:rPr>
                        <a:t>5 MIN</a:t>
                      </a:r>
                    </a:p>
                  </a:txBody>
                  <a:tcPr marL="91440" marR="91440" marT="27432" marB="27432" anchor="ctr">
                    <a:solidFill>
                      <a:srgbClr val="0C0F12"/>
                    </a:solidFill>
                  </a:tcPr>
                </a:tc>
                <a:tc>
                  <a:txBody>
                    <a:bodyPr/>
                    <a:lstStyle/>
                    <a:p>
                      <a:pPr algn="l"/>
                      <a:r>
                        <a:rPr sz="1150" b="0">
                          <a:solidFill>
                            <a:srgbClr val="F2F0EA"/>
                          </a:solidFill>
                          <a:latin typeface="Arial"/>
                        </a:rPr>
                        <a:t>Claim 1 character — exclusive, first-come</a:t>
                      </a:r>
                    </a:p>
                  </a:txBody>
                  <a:tcPr marL="91440" marR="91440" marT="27432" marB="27432" anchor="ctr">
                    <a:solidFill>
                      <a:srgbClr val="0C0F12"/>
                    </a:solidFill>
                  </a:tcPr>
                </a:tc>
              </a:tr>
              <a:tr h="480974">
                <a:tc>
                  <a:txBody>
                    <a:bodyPr/>
                    <a:lstStyle/>
                    <a:p>
                      <a:pPr algn="l"/>
                      <a:r>
                        <a:rPr sz="1150" b="0">
                          <a:solidFill>
                            <a:srgbClr val="F2F0EA"/>
                          </a:solidFill>
                          <a:latin typeface="Arial"/>
                        </a:rPr>
                        <a:t>4 · REPORT</a:t>
                      </a:r>
                    </a:p>
                  </a:txBody>
                  <a:tcPr marL="91440" marR="91440" marT="27432" marB="27432" anchor="ctr">
                    <a:solidFill>
                      <a:srgbClr val="0C0F12"/>
                    </a:solidFill>
                  </a:tcPr>
                </a:tc>
                <a:tc>
                  <a:txBody>
                    <a:bodyPr/>
                    <a:lstStyle/>
                    <a:p>
                      <a:pPr algn="ctr"/>
                      <a:r>
                        <a:rPr sz="1150" b="0">
                          <a:solidFill>
                            <a:srgbClr val="F2F0EA"/>
                          </a:solidFill>
                          <a:latin typeface="Courier New"/>
                        </a:rPr>
                        <a:t>20-30 MIN</a:t>
                      </a:r>
                    </a:p>
                  </a:txBody>
                  <a:tcPr marL="91440" marR="91440" marT="27432" marB="27432" anchor="ctr">
                    <a:solidFill>
                      <a:srgbClr val="0C0F12"/>
                    </a:solidFill>
                  </a:tcPr>
                </a:tc>
                <a:tc>
                  <a:txBody>
                    <a:bodyPr/>
                    <a:lstStyle/>
                    <a:p>
                      <a:pPr algn="l"/>
                      <a:r>
                        <a:rPr sz="1150" b="0">
                          <a:solidFill>
                            <a:srgbClr val="F2F0EA"/>
                          </a:solidFill>
                          <a:latin typeface="Arial"/>
                        </a:rPr>
                        <a:t>Cite evidence, name a trap you caught</a:t>
                      </a:r>
                    </a:p>
                  </a:txBody>
                  <a:tcPr marL="91440" marR="91440" marT="27432" marB="27432" anchor="ctr">
                    <a:solidFill>
                      <a:srgbClr val="0C0F12"/>
                    </a:solidFill>
                  </a:tcPr>
                </a:tc>
              </a:tr>
            </a:tbl>
          </a:graphicData>
        </a:graphic>
      </p:graphicFrame>
      <p:sp>
        <p:nvSpPr>
          <p:cNvPr id="51" name="Rectangle 50"/>
          <p:cNvSpPr/>
          <p:nvPr/>
        </p:nvSpPr>
        <p:spPr>
          <a:xfrm>
            <a:off x="548640" y="5303520"/>
            <a:ext cx="3628034" cy="9601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02920" y="5257800"/>
            <a:ext cx="3628034" cy="960120"/>
          </a:xfrm>
          <a:prstGeom prst="rect">
            <a:avLst/>
          </a:prstGeom>
          <a:solidFill>
            <a:srgbClr val="000000"/>
          </a:solidFill>
          <a:ln w="31750">
            <a:solidFill>
              <a:srgbClr val="E2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02920" y="5330952"/>
            <a:ext cx="3628034" cy="566928"/>
          </a:xfrm>
          <a:prstGeom prst="rect">
            <a:avLst/>
          </a:prstGeom>
          <a:noFill/>
        </p:spPr>
        <p:txBody>
          <a:bodyPr wrap="square" anchor="t" lIns="0" rIns="0" tIns="0" bIns="0">
            <a:noAutofit/>
          </a:bodyPr>
          <a:lstStyle/>
          <a:p>
            <a:pPr algn="ctr">
              <a:spcBef>
                <a:spcPts val="0"/>
              </a:spcBef>
              <a:spcAft>
                <a:spcPts val="0"/>
              </a:spcAft>
            </a:pPr>
            <a:r>
              <a:rPr sz="3000" b="1">
                <a:solidFill>
                  <a:srgbClr val="E23636"/>
                </a:solidFill>
                <a:latin typeface="Courier New"/>
              </a:rPr>
              <a:t>50%</a:t>
            </a:r>
          </a:p>
        </p:txBody>
      </p:sp>
      <p:sp>
        <p:nvSpPr>
          <p:cNvPr id="54" name="TextBox 53"/>
          <p:cNvSpPr txBox="1"/>
          <p:nvPr/>
        </p:nvSpPr>
        <p:spPr>
          <a:xfrm>
            <a:off x="502920" y="5861304"/>
            <a:ext cx="3628034" cy="292608"/>
          </a:xfrm>
          <a:prstGeom prst="rect">
            <a:avLst/>
          </a:prstGeom>
          <a:noFill/>
        </p:spPr>
        <p:txBody>
          <a:bodyPr wrap="square" anchor="t" lIns="0" rIns="0" tIns="0" bIns="0">
            <a:noAutofit/>
          </a:bodyPr>
          <a:lstStyle/>
          <a:p>
            <a:pPr algn="ctr">
              <a:spcBef>
                <a:spcPts val="0"/>
              </a:spcBef>
              <a:spcAft>
                <a:spcPts val="0"/>
              </a:spcAft>
            </a:pPr>
            <a:r>
              <a:rPr sz="1500" b="0">
                <a:solidFill>
                  <a:srgbClr val="F2F0EA"/>
                </a:solidFill>
                <a:latin typeface="Impact"/>
              </a:rPr>
              <a:t>ANALYSIS</a:t>
            </a:r>
          </a:p>
        </p:txBody>
      </p:sp>
      <p:sp>
        <p:nvSpPr>
          <p:cNvPr id="55" name="Rectangle 54"/>
          <p:cNvSpPr/>
          <p:nvPr/>
        </p:nvSpPr>
        <p:spPr>
          <a:xfrm>
            <a:off x="4359554" y="5303520"/>
            <a:ext cx="3628034" cy="9601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313834" y="5257800"/>
            <a:ext cx="3628034" cy="960120"/>
          </a:xfrm>
          <a:prstGeom prst="rect">
            <a:avLst/>
          </a:prstGeom>
          <a:solidFill>
            <a:srgbClr val="000000"/>
          </a:solidFill>
          <a:ln w="3175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313834" y="5330952"/>
            <a:ext cx="3628034" cy="566928"/>
          </a:xfrm>
          <a:prstGeom prst="rect">
            <a:avLst/>
          </a:prstGeom>
          <a:noFill/>
        </p:spPr>
        <p:txBody>
          <a:bodyPr wrap="square" anchor="t" lIns="0" rIns="0" tIns="0" bIns="0">
            <a:noAutofit/>
          </a:bodyPr>
          <a:lstStyle/>
          <a:p>
            <a:pPr algn="ctr">
              <a:spcBef>
                <a:spcPts val="0"/>
              </a:spcBef>
              <a:spcAft>
                <a:spcPts val="0"/>
              </a:spcAft>
            </a:pPr>
            <a:r>
              <a:rPr sz="3000" b="1">
                <a:solidFill>
                  <a:srgbClr val="C9A227"/>
                </a:solidFill>
                <a:latin typeface="Courier New"/>
              </a:rPr>
              <a:t>20%</a:t>
            </a:r>
          </a:p>
        </p:txBody>
      </p:sp>
      <p:sp>
        <p:nvSpPr>
          <p:cNvPr id="58" name="TextBox 57"/>
          <p:cNvSpPr txBox="1"/>
          <p:nvPr/>
        </p:nvSpPr>
        <p:spPr>
          <a:xfrm>
            <a:off x="4313834" y="5861304"/>
            <a:ext cx="3628034" cy="292608"/>
          </a:xfrm>
          <a:prstGeom prst="rect">
            <a:avLst/>
          </a:prstGeom>
          <a:noFill/>
        </p:spPr>
        <p:txBody>
          <a:bodyPr wrap="square" anchor="t" lIns="0" rIns="0" tIns="0" bIns="0">
            <a:noAutofit/>
          </a:bodyPr>
          <a:lstStyle/>
          <a:p>
            <a:pPr algn="ctr">
              <a:spcBef>
                <a:spcPts val="0"/>
              </a:spcBef>
              <a:spcAft>
                <a:spcPts val="0"/>
              </a:spcAft>
            </a:pPr>
            <a:r>
              <a:rPr sz="1500" b="0">
                <a:solidFill>
                  <a:srgbClr val="F2F0EA"/>
                </a:solidFill>
                <a:latin typeface="Impact"/>
              </a:rPr>
              <a:t>DRAFT</a:t>
            </a:r>
          </a:p>
        </p:txBody>
      </p:sp>
      <p:sp>
        <p:nvSpPr>
          <p:cNvPr id="59" name="Rectangle 58"/>
          <p:cNvSpPr/>
          <p:nvPr/>
        </p:nvSpPr>
        <p:spPr>
          <a:xfrm>
            <a:off x="8170468" y="5303520"/>
            <a:ext cx="3628034" cy="9601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124748" y="5257800"/>
            <a:ext cx="3628034" cy="960120"/>
          </a:xfrm>
          <a:prstGeom prst="rect">
            <a:avLst/>
          </a:prstGeom>
          <a:solidFill>
            <a:srgbClr val="000000"/>
          </a:solidFill>
          <a:ln w="31750">
            <a:solidFill>
              <a:srgbClr val="2ECC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124748" y="5330952"/>
            <a:ext cx="3628034" cy="566928"/>
          </a:xfrm>
          <a:prstGeom prst="rect">
            <a:avLst/>
          </a:prstGeom>
          <a:noFill/>
        </p:spPr>
        <p:txBody>
          <a:bodyPr wrap="square" anchor="t" lIns="0" rIns="0" tIns="0" bIns="0">
            <a:noAutofit/>
          </a:bodyPr>
          <a:lstStyle/>
          <a:p>
            <a:pPr algn="ctr">
              <a:spcBef>
                <a:spcPts val="0"/>
              </a:spcBef>
              <a:spcAft>
                <a:spcPts val="0"/>
              </a:spcAft>
            </a:pPr>
            <a:r>
              <a:rPr sz="3000" b="1">
                <a:solidFill>
                  <a:srgbClr val="2ECC71"/>
                </a:solidFill>
                <a:latin typeface="Courier New"/>
              </a:rPr>
              <a:t>30%</a:t>
            </a:r>
          </a:p>
        </p:txBody>
      </p:sp>
      <p:sp>
        <p:nvSpPr>
          <p:cNvPr id="62" name="TextBox 61"/>
          <p:cNvSpPr txBox="1"/>
          <p:nvPr/>
        </p:nvSpPr>
        <p:spPr>
          <a:xfrm>
            <a:off x="8124748" y="5861304"/>
            <a:ext cx="3628034" cy="292608"/>
          </a:xfrm>
          <a:prstGeom prst="rect">
            <a:avLst/>
          </a:prstGeom>
          <a:noFill/>
        </p:spPr>
        <p:txBody>
          <a:bodyPr wrap="square" anchor="t" lIns="0" rIns="0" tIns="0" bIns="0">
            <a:noAutofit/>
          </a:bodyPr>
          <a:lstStyle/>
          <a:p>
            <a:pPr algn="ctr">
              <a:spcBef>
                <a:spcPts val="0"/>
              </a:spcBef>
              <a:spcAft>
                <a:spcPts val="0"/>
              </a:spcAft>
            </a:pPr>
            <a:r>
              <a:rPr sz="1500" b="0">
                <a:solidFill>
                  <a:srgbClr val="F2F0EA"/>
                </a:solidFill>
                <a:latin typeface="Impact"/>
              </a:rPr>
              <a:t>REPORT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0F12"/>
        </a:solidFill>
        <a:effectLst/>
      </p:bgPr>
    </p:bg>
    <p:spTree>
      <p:nvGrpSpPr>
        <p:cNvPr id="1" name=""/>
        <p:cNvGrpSpPr/>
        <p:nvPr/>
      </p:nvGrpSpPr>
      <p:grpSpPr/>
      <p:sp>
        <p:nvSpPr>
          <p:cNvPr id="2" name="Rectangle 1"/>
          <p:cNvSpPr/>
          <p:nvPr/>
        </p:nvSpPr>
        <p:spPr>
          <a:xfrm>
            <a:off x="0" y="0"/>
            <a:ext cx="82296" cy="6858000"/>
          </a:xfrm>
          <a:prstGeom prst="rect">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39677"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09494"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779312"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949129"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118946"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88763"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458580"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28397"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798214"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968032"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137849"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307666"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477483"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647300"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439677"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09494"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79312"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949129"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118946"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288763"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458580"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628397"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798214"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968032"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137849"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1307666"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1477483"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1647300"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439677"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609494"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779312"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49129"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118946"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288763"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458580"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628397"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798214"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968032"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1137849"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307666"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1477483"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647300"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2920" y="347472"/>
            <a:ext cx="7315200" cy="292608"/>
          </a:xfrm>
          <a:prstGeom prst="rect">
            <a:avLst/>
          </a:prstGeom>
          <a:noFill/>
        </p:spPr>
        <p:txBody>
          <a:bodyPr wrap="square" anchor="t" lIns="0" rIns="0" tIns="0" bIns="0">
            <a:noAutofit/>
          </a:bodyPr>
          <a:lstStyle/>
          <a:p>
            <a:pPr algn="l">
              <a:spcBef>
                <a:spcPts val="0"/>
              </a:spcBef>
              <a:spcAft>
                <a:spcPts val="0"/>
              </a:spcAft>
            </a:pPr>
            <a:r>
              <a:rPr sz="1300" b="1">
                <a:solidFill>
                  <a:srgbClr val="C9A227"/>
                </a:solidFill>
                <a:latin typeface="Courier New"/>
              </a:rPr>
              <a:t>03 / 11  --  ROUND 0 · SETUP · 5 MIN</a:t>
            </a:r>
          </a:p>
        </p:txBody>
      </p:sp>
      <p:sp>
        <p:nvSpPr>
          <p:cNvPr id="46" name="TextBox 45"/>
          <p:cNvSpPr txBox="1"/>
          <p:nvPr/>
        </p:nvSpPr>
        <p:spPr>
          <a:xfrm>
            <a:off x="502920" y="640080"/>
            <a:ext cx="11249863" cy="603504"/>
          </a:xfrm>
          <a:prstGeom prst="rect">
            <a:avLst/>
          </a:prstGeom>
          <a:noFill/>
        </p:spPr>
        <p:txBody>
          <a:bodyPr wrap="square" anchor="t" lIns="0" rIns="0" tIns="0" bIns="0">
            <a:noAutofit/>
          </a:bodyPr>
          <a:lstStyle/>
          <a:p>
            <a:pPr algn="l">
              <a:spcBef>
                <a:spcPts val="0"/>
              </a:spcBef>
              <a:spcAft>
                <a:spcPts val="0"/>
              </a:spcAft>
            </a:pPr>
            <a:r>
              <a:rPr sz="3400" b="0">
                <a:solidFill>
                  <a:srgbClr val="F2F0EA"/>
                </a:solidFill>
                <a:latin typeface="Impact"/>
              </a:rPr>
              <a:t>GEAR UP</a:t>
            </a:r>
          </a:p>
        </p:txBody>
      </p:sp>
      <p:sp>
        <p:nvSpPr>
          <p:cNvPr id="47" name="Rectangle 46"/>
          <p:cNvSpPr/>
          <p:nvPr/>
        </p:nvSpPr>
        <p:spPr>
          <a:xfrm>
            <a:off x="502920" y="1298448"/>
            <a:ext cx="11249863" cy="38100"/>
          </a:xfrm>
          <a:prstGeom prst="rect">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02920" y="6547104"/>
            <a:ext cx="6400800" cy="256032"/>
          </a:xfrm>
          <a:prstGeom prst="rect">
            <a:avLst/>
          </a:prstGeom>
          <a:noFill/>
        </p:spPr>
        <p:txBody>
          <a:bodyPr wrap="square" anchor="t" lIns="0" rIns="0" tIns="0" bIns="0">
            <a:noAutofit/>
          </a:bodyPr>
          <a:lstStyle/>
          <a:p>
            <a:pPr algn="l">
              <a:spcBef>
                <a:spcPts val="0"/>
              </a:spcBef>
              <a:spcAft>
                <a:spcPts val="0"/>
              </a:spcAft>
            </a:pPr>
            <a:r>
              <a:rPr sz="850" b="0">
                <a:solidFill>
                  <a:srgbClr val="4A4E54"/>
                </a:solidFill>
                <a:latin typeface="Courier New"/>
              </a:rPr>
              <a:t>DOOMSDAY ALGORITHM  //  V-TAPP 2026  //  DATA SCIENCE CLUB, VIT-AP</a:t>
            </a:r>
          </a:p>
        </p:txBody>
      </p:sp>
      <p:sp>
        <p:nvSpPr>
          <p:cNvPr id="49" name="TextBox 48"/>
          <p:cNvSpPr txBox="1"/>
          <p:nvPr/>
        </p:nvSpPr>
        <p:spPr>
          <a:xfrm>
            <a:off x="502920" y="1536192"/>
            <a:ext cx="4160520" cy="3566160"/>
          </a:xfrm>
          <a:prstGeom prst="rect">
            <a:avLst/>
          </a:prstGeom>
          <a:noFill/>
        </p:spPr>
        <p:txBody>
          <a:bodyPr wrap="square" anchor="t" lIns="0" rIns="0" tIns="0" bIns="0">
            <a:noAutofit/>
          </a:bodyPr>
          <a:lstStyle/>
          <a:p>
            <a:pPr algn="l">
              <a:spcBef>
                <a:spcPts val="0"/>
              </a:spcBef>
              <a:spcAft>
                <a:spcPts val="400"/>
              </a:spcAft>
            </a:pPr>
            <a:r>
              <a:rPr sz="1200" b="1">
                <a:solidFill>
                  <a:srgbClr val="C9A227"/>
                </a:solidFill>
                <a:latin typeface="Courier New"/>
              </a:rPr>
              <a:t>STEP 1</a:t>
            </a:r>
          </a:p>
          <a:p>
            <a:pPr algn="l">
              <a:lnSpc>
                <a:spcPct val="120000"/>
              </a:lnSpc>
              <a:spcBef>
                <a:spcPts val="0"/>
              </a:spcBef>
              <a:spcAft>
                <a:spcPts val="1600"/>
              </a:spcAft>
            </a:pPr>
            <a:r>
              <a:rPr sz="1300" b="0">
                <a:solidFill>
                  <a:srgbClr val="F2F0EA"/>
                </a:solidFill>
                <a:latin typeface="Arial"/>
              </a:rPr>
              <a:t>Pick a team ID. It’s saved in the browser — stick to one laptop for the whole event.</a:t>
            </a:r>
          </a:p>
          <a:p>
            <a:pPr algn="l">
              <a:spcBef>
                <a:spcPts val="0"/>
              </a:spcBef>
              <a:spcAft>
                <a:spcPts val="400"/>
              </a:spcAft>
            </a:pPr>
            <a:r>
              <a:rPr sz="1200" b="1">
                <a:solidFill>
                  <a:srgbClr val="C9A227"/>
                </a:solidFill>
                <a:latin typeface="Courier New"/>
              </a:rPr>
              <a:t>STEP 2</a:t>
            </a:r>
          </a:p>
          <a:p>
            <a:pPr algn="l">
              <a:lnSpc>
                <a:spcPct val="120000"/>
              </a:lnSpc>
              <a:spcBef>
                <a:spcPts val="0"/>
              </a:spcBef>
              <a:spcAft>
                <a:spcPts val="1600"/>
              </a:spcAft>
            </a:pPr>
            <a:r>
              <a:rPr sz="1300" b="0">
                <a:solidFill>
                  <a:srgbClr val="F2F0EA"/>
                </a:solidFill>
                <a:latin typeface="Arial"/>
              </a:rPr>
              <a:t>Download all six CSVs below before you start Round 1.</a:t>
            </a:r>
          </a:p>
          <a:p>
            <a:pPr algn="l">
              <a:spcBef>
                <a:spcPts val="0"/>
              </a:spcBef>
              <a:spcAft>
                <a:spcPts val="400"/>
              </a:spcAft>
            </a:pPr>
            <a:r>
              <a:rPr sz="1200" b="1">
                <a:solidFill>
                  <a:srgbClr val="C9A227"/>
                </a:solidFill>
                <a:latin typeface="Courier New"/>
              </a:rPr>
              <a:t>TOOLS ALLOWED</a:t>
            </a:r>
          </a:p>
          <a:p>
            <a:pPr algn="l">
              <a:lnSpc>
                <a:spcPct val="120000"/>
              </a:lnSpc>
              <a:spcBef>
                <a:spcPts val="0"/>
              </a:spcBef>
              <a:spcAft>
                <a:spcPts val="0"/>
              </a:spcAft>
            </a:pPr>
            <a:r>
              <a:rPr sz="1300" b="0">
                <a:solidFill>
                  <a:srgbClr val="F2F0EA"/>
                </a:solidFill>
                <a:latin typeface="Arial"/>
              </a:rPr>
              <a:t>Excel · pandas · SQL · R — whatever you’ve got.</a:t>
            </a:r>
          </a:p>
        </p:txBody>
      </p:sp>
      <p:graphicFrame>
        <p:nvGraphicFramePr>
          <p:cNvPr id="50" name="Table 49"/>
          <p:cNvGraphicFramePr>
            <a:graphicFrameLocks noGrp="1"/>
          </p:cNvGraphicFramePr>
          <p:nvPr/>
        </p:nvGraphicFramePr>
        <p:xfrm>
          <a:off x="4937759" y="1536192"/>
          <a:ext cx="6815022" cy="4480560"/>
        </p:xfrm>
        <a:graphic>
          <a:graphicData uri="http://schemas.openxmlformats.org/drawingml/2006/table">
            <a:tbl>
              <a:tblPr>
                <a:tableStyleId>{5940675A-B579-460E-94D1-54222C63F5DA}</a:tableStyleId>
              </a:tblPr>
              <a:tblGrid>
                <a:gridCol w="2004418"/>
                <a:gridCol w="4810604"/>
              </a:tblGrid>
              <a:tr h="384048">
                <a:tc>
                  <a:txBody>
                    <a:bodyPr/>
                    <a:lstStyle/>
                    <a:p>
                      <a:pPr algn="l"/>
                      <a:r>
                        <a:rPr sz="1200" b="1">
                          <a:solidFill>
                            <a:srgbClr val="F2F0EA"/>
                          </a:solidFill>
                          <a:latin typeface="Arial"/>
                        </a:rPr>
                        <a:t>FILE</a:t>
                      </a:r>
                    </a:p>
                  </a:txBody>
                  <a:tcPr marL="91440" marR="91440" marT="27432" marB="27432" anchor="ctr">
                    <a:solidFill>
                      <a:srgbClr val="E23636"/>
                    </a:solidFill>
                  </a:tcPr>
                </a:tc>
                <a:tc>
                  <a:txBody>
                    <a:bodyPr/>
                    <a:lstStyle/>
                    <a:p>
                      <a:pPr algn="l"/>
                      <a:r>
                        <a:rPr sz="1200" b="1">
                          <a:solidFill>
                            <a:srgbClr val="F2F0EA"/>
                          </a:solidFill>
                          <a:latin typeface="Arial"/>
                        </a:rPr>
                        <a:t>CONTENTS</a:t>
                      </a:r>
                    </a:p>
                  </a:txBody>
                  <a:tcPr marL="91440" marR="91440" marT="27432" marB="27432" anchor="ctr">
                    <a:solidFill>
                      <a:srgbClr val="E23636"/>
                    </a:solidFill>
                  </a:tcPr>
                </a:tc>
              </a:tr>
              <a:tr h="682752">
                <a:tc>
                  <a:txBody>
                    <a:bodyPr/>
                    <a:lstStyle/>
                    <a:p>
                      <a:pPr algn="l"/>
                      <a:r>
                        <a:rPr sz="1080" b="0">
                          <a:solidFill>
                            <a:srgbClr val="F2F0EA"/>
                          </a:solidFill>
                          <a:latin typeface="Courier New"/>
                        </a:rPr>
                        <a:t>films.csv</a:t>
                      </a:r>
                    </a:p>
                  </a:txBody>
                  <a:tcPr marL="91440" marR="91440" marT="27432" marB="27432" anchor="ctr">
                    <a:solidFill>
                      <a:srgbClr val="0C0F12"/>
                    </a:solidFill>
                  </a:tcPr>
                </a:tc>
                <a:tc>
                  <a:txBody>
                    <a:bodyPr/>
                    <a:lstStyle/>
                    <a:p>
                      <a:pPr algn="l"/>
                      <a:r>
                        <a:rPr sz="1080" b="0">
                          <a:solidFill>
                            <a:srgbClr val="F2F0EA"/>
                          </a:solidFill>
                          <a:latin typeface="Arial"/>
                        </a:rPr>
                        <a:t>28 films: phase, year, budget, opening weekend, gross, scores</a:t>
                      </a:r>
                    </a:p>
                  </a:txBody>
                  <a:tcPr marL="91440" marR="91440" marT="27432" marB="27432" anchor="ctr">
                    <a:solidFill>
                      <a:srgbClr val="0C0F12"/>
                    </a:solidFill>
                  </a:tcPr>
                </a:tc>
              </a:tr>
              <a:tr h="682752">
                <a:tc>
                  <a:txBody>
                    <a:bodyPr/>
                    <a:lstStyle/>
                    <a:p>
                      <a:pPr algn="l"/>
                      <a:r>
                        <a:rPr sz="1080" b="0">
                          <a:solidFill>
                            <a:srgbClr val="F2F0EA"/>
                          </a:solidFill>
                          <a:latin typeface="Courier New"/>
                        </a:rPr>
                        <a:t>characters.csv</a:t>
                      </a:r>
                    </a:p>
                  </a:txBody>
                  <a:tcPr marL="91440" marR="91440" marT="27432" marB="27432" anchor="ctr">
                    <a:solidFill>
                      <a:srgbClr val="0C0F12"/>
                    </a:solidFill>
                  </a:tcPr>
                </a:tc>
                <a:tc>
                  <a:txBody>
                    <a:bodyPr/>
                    <a:lstStyle/>
                    <a:p>
                      <a:pPr algn="l"/>
                      <a:r>
                        <a:rPr sz="1080" b="0">
                          <a:solidFill>
                            <a:srgbClr val="F2F0EA"/>
                          </a:solidFill>
                          <a:latin typeface="Arial"/>
                        </a:rPr>
                        <a:t>60 characters: faction, first film, powered flag</a:t>
                      </a:r>
                    </a:p>
                  </a:txBody>
                  <a:tcPr marL="91440" marR="91440" marT="27432" marB="27432" anchor="ctr">
                    <a:solidFill>
                      <a:srgbClr val="0C0F12"/>
                    </a:solidFill>
                  </a:tcPr>
                </a:tc>
              </a:tr>
              <a:tr h="682752">
                <a:tc>
                  <a:txBody>
                    <a:bodyPr/>
                    <a:lstStyle/>
                    <a:p>
                      <a:pPr algn="l"/>
                      <a:r>
                        <a:rPr sz="1080" b="0">
                          <a:solidFill>
                            <a:srgbClr val="F2F0EA"/>
                          </a:solidFill>
                          <a:latin typeface="Courier New"/>
                        </a:rPr>
                        <a:t>appearances.csv</a:t>
                      </a:r>
                    </a:p>
                  </a:txBody>
                  <a:tcPr marL="91440" marR="91440" marT="27432" marB="27432" anchor="ctr">
                    <a:solidFill>
                      <a:srgbClr val="0C0F12"/>
                    </a:solidFill>
                  </a:tcPr>
                </a:tc>
                <a:tc>
                  <a:txBody>
                    <a:bodyPr/>
                    <a:lstStyle/>
                    <a:p>
                      <a:pPr algn="l"/>
                      <a:r>
                        <a:rPr sz="1080" b="0">
                          <a:solidFill>
                            <a:srgbClr val="F2F0EA"/>
                          </a:solidFill>
                          <a:latin typeface="Arial"/>
                        </a:rPr>
                        <a:t>Per character/film: screentime, lines, billing, survived</a:t>
                      </a:r>
                    </a:p>
                  </a:txBody>
                  <a:tcPr marL="91440" marR="91440" marT="27432" marB="27432" anchor="ctr">
                    <a:solidFill>
                      <a:srgbClr val="0C0F12"/>
                    </a:solidFill>
                  </a:tcPr>
                </a:tc>
              </a:tr>
              <a:tr h="682752">
                <a:tc>
                  <a:txBody>
                    <a:bodyPr/>
                    <a:lstStyle/>
                    <a:p>
                      <a:pPr algn="l"/>
                      <a:r>
                        <a:rPr sz="1080" b="0">
                          <a:solidFill>
                            <a:srgbClr val="F2F0EA"/>
                          </a:solidFill>
                          <a:latin typeface="Courier New"/>
                        </a:rPr>
                        <a:t>co_appearances.csv</a:t>
                      </a:r>
                    </a:p>
                  </a:txBody>
                  <a:tcPr marL="91440" marR="91440" marT="27432" marB="27432" anchor="ctr">
                    <a:solidFill>
                      <a:srgbClr val="0C0F12"/>
                    </a:solidFill>
                  </a:tcPr>
                </a:tc>
                <a:tc>
                  <a:txBody>
                    <a:bodyPr/>
                    <a:lstStyle/>
                    <a:p>
                      <a:pPr algn="l"/>
                      <a:r>
                        <a:rPr sz="1080" b="0">
                          <a:solidFill>
                            <a:srgbClr val="F2F0EA"/>
                          </a:solidFill>
                          <a:latin typeface="Arial"/>
                        </a:rPr>
                        <a:t>Character pairs sharing scenes, per film</a:t>
                      </a:r>
                    </a:p>
                  </a:txBody>
                  <a:tcPr marL="91440" marR="91440" marT="27432" marB="27432" anchor="ctr">
                    <a:solidFill>
                      <a:srgbClr val="0C0F12"/>
                    </a:solidFill>
                  </a:tcPr>
                </a:tc>
              </a:tr>
              <a:tr h="682752">
                <a:tc>
                  <a:txBody>
                    <a:bodyPr/>
                    <a:lstStyle/>
                    <a:p>
                      <a:pPr algn="l"/>
                      <a:r>
                        <a:rPr sz="1080" b="0">
                          <a:solidFill>
                            <a:srgbClr val="F2F0EA"/>
                          </a:solidFill>
                          <a:latin typeface="Courier New"/>
                        </a:rPr>
                        <a:t>post_credits.csv</a:t>
                      </a:r>
                    </a:p>
                  </a:txBody>
                  <a:tcPr marL="91440" marR="91440" marT="27432" marB="27432" anchor="ctr">
                    <a:solidFill>
                      <a:srgbClr val="0C0F12"/>
                    </a:solidFill>
                  </a:tcPr>
                </a:tc>
                <a:tc>
                  <a:txBody>
                    <a:bodyPr/>
                    <a:lstStyle/>
                    <a:p>
                      <a:pPr algn="l"/>
                      <a:r>
                        <a:rPr sz="1080" b="0">
                          <a:solidFill>
                            <a:srgbClr val="F2F0EA"/>
                          </a:solidFill>
                          <a:latin typeface="Arial"/>
                        </a:rPr>
                        <a:t>Who was teased, and which film paid it off</a:t>
                      </a:r>
                    </a:p>
                  </a:txBody>
                  <a:tcPr marL="91440" marR="91440" marT="27432" marB="27432" anchor="ctr">
                    <a:solidFill>
                      <a:srgbClr val="0C0F12"/>
                    </a:solidFill>
                  </a:tcPr>
                </a:tc>
              </a:tr>
              <a:tr h="682752">
                <a:tc>
                  <a:txBody>
                    <a:bodyPr/>
                    <a:lstStyle/>
                    <a:p>
                      <a:pPr algn="l"/>
                      <a:r>
                        <a:rPr sz="1080" b="0">
                          <a:solidFill>
                            <a:srgbClr val="F2F0EA"/>
                          </a:solidFill>
                          <a:latin typeface="Courier New"/>
                        </a:rPr>
                        <a:t>roster.csv</a:t>
                      </a:r>
                    </a:p>
                  </a:txBody>
                  <a:tcPr marL="91440" marR="91440" marT="27432" marB="27432" anchor="ctr">
                    <a:solidFill>
                      <a:srgbClr val="0C0F12"/>
                    </a:solidFill>
                  </a:tcPr>
                </a:tc>
                <a:tc>
                  <a:txBody>
                    <a:bodyPr/>
                    <a:lstStyle/>
                    <a:p>
                      <a:pPr algn="l"/>
                      <a:r>
                        <a:rPr sz="1080" b="0">
                          <a:solidFill>
                            <a:srgbClr val="F2F0EA"/>
                          </a:solidFill>
                          <a:latin typeface="Arial"/>
                        </a:rPr>
                        <a:t>The full 60-character roster</a:t>
                      </a:r>
                    </a:p>
                  </a:txBody>
                  <a:tcPr marL="91440" marR="91440" marT="27432" marB="27432" anchor="ctr">
                    <a:solidFill>
                      <a:srgbClr val="0C0F12"/>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0F12"/>
        </a:solidFill>
        <a:effectLst/>
      </p:bgPr>
    </p:bg>
    <p:spTree>
      <p:nvGrpSpPr>
        <p:cNvPr id="1" name=""/>
        <p:cNvGrpSpPr/>
        <p:nvPr/>
      </p:nvGrpSpPr>
      <p:grpSpPr/>
      <p:sp>
        <p:nvSpPr>
          <p:cNvPr id="2" name="Rectangle 1"/>
          <p:cNvSpPr/>
          <p:nvPr/>
        </p:nvSpPr>
        <p:spPr>
          <a:xfrm>
            <a:off x="0" y="0"/>
            <a:ext cx="82296" cy="6858000"/>
          </a:xfrm>
          <a:prstGeom prst="rect">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39677"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09494"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779312"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949129"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118946"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88763"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458580"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28397"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798214"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968032"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137849"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307666"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477483"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647300"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439677"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09494"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79312"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949129"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118946"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288763"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458580"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628397"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798214"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968032"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137849"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1307666"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1477483"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1647300"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439677"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609494"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779312"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49129"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118946"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288763"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458580"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628397"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798214"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968032"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1137849"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307666"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1477483"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647300"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2920" y="347472"/>
            <a:ext cx="7315200" cy="292608"/>
          </a:xfrm>
          <a:prstGeom prst="rect">
            <a:avLst/>
          </a:prstGeom>
          <a:noFill/>
        </p:spPr>
        <p:txBody>
          <a:bodyPr wrap="square" anchor="t" lIns="0" rIns="0" tIns="0" bIns="0">
            <a:noAutofit/>
          </a:bodyPr>
          <a:lstStyle/>
          <a:p>
            <a:pPr algn="l">
              <a:spcBef>
                <a:spcPts val="0"/>
              </a:spcBef>
              <a:spcAft>
                <a:spcPts val="0"/>
              </a:spcAft>
            </a:pPr>
            <a:r>
              <a:rPr sz="1300" b="1">
                <a:solidFill>
                  <a:srgbClr val="C9A227"/>
                </a:solidFill>
                <a:latin typeface="Courier New"/>
              </a:rPr>
              <a:t>04 / 11  --  ROUND 1 · EXPLORE · 30-45 MIN</a:t>
            </a:r>
          </a:p>
        </p:txBody>
      </p:sp>
      <p:sp>
        <p:nvSpPr>
          <p:cNvPr id="46" name="TextBox 45"/>
          <p:cNvSpPr txBox="1"/>
          <p:nvPr/>
        </p:nvSpPr>
        <p:spPr>
          <a:xfrm>
            <a:off x="502920" y="640080"/>
            <a:ext cx="11249863" cy="603504"/>
          </a:xfrm>
          <a:prstGeom prst="rect">
            <a:avLst/>
          </a:prstGeom>
          <a:noFill/>
        </p:spPr>
        <p:txBody>
          <a:bodyPr wrap="square" anchor="t" lIns="0" rIns="0" tIns="0" bIns="0">
            <a:noAutofit/>
          </a:bodyPr>
          <a:lstStyle/>
          <a:p>
            <a:pPr algn="l">
              <a:spcBef>
                <a:spcPts val="0"/>
              </a:spcBef>
              <a:spcAft>
                <a:spcPts val="0"/>
              </a:spcAft>
            </a:pPr>
            <a:r>
              <a:rPr sz="3000" b="0">
                <a:solidFill>
                  <a:srgbClr val="F2F0EA"/>
                </a:solidFill>
                <a:latin typeface="Impact"/>
              </a:rPr>
              <a:t>10 QUESTIONS. NOTHING TO GUESS.</a:t>
            </a:r>
          </a:p>
        </p:txBody>
      </p:sp>
      <p:sp>
        <p:nvSpPr>
          <p:cNvPr id="47" name="Rectangle 46"/>
          <p:cNvSpPr/>
          <p:nvPr/>
        </p:nvSpPr>
        <p:spPr>
          <a:xfrm>
            <a:off x="502920" y="1298448"/>
            <a:ext cx="11249863" cy="38100"/>
          </a:xfrm>
          <a:prstGeom prst="rect">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02920" y="6547104"/>
            <a:ext cx="6400800" cy="256032"/>
          </a:xfrm>
          <a:prstGeom prst="rect">
            <a:avLst/>
          </a:prstGeom>
          <a:noFill/>
        </p:spPr>
        <p:txBody>
          <a:bodyPr wrap="square" anchor="t" lIns="0" rIns="0" tIns="0" bIns="0">
            <a:noAutofit/>
          </a:bodyPr>
          <a:lstStyle/>
          <a:p>
            <a:pPr algn="l">
              <a:spcBef>
                <a:spcPts val="0"/>
              </a:spcBef>
              <a:spcAft>
                <a:spcPts val="0"/>
              </a:spcAft>
            </a:pPr>
            <a:r>
              <a:rPr sz="850" b="0">
                <a:solidFill>
                  <a:srgbClr val="4A4E54"/>
                </a:solidFill>
                <a:latin typeface="Courier New"/>
              </a:rPr>
              <a:t>DOOMSDAY ALGORITHM  //  V-TAPP 2026  //  DATA SCIENCE CLUB, VIT-AP</a:t>
            </a:r>
          </a:p>
        </p:txBody>
      </p:sp>
      <p:sp>
        <p:nvSpPr>
          <p:cNvPr id="49" name="TextBox 48"/>
          <p:cNvSpPr txBox="1"/>
          <p:nvPr/>
        </p:nvSpPr>
        <p:spPr>
          <a:xfrm>
            <a:off x="502920" y="1572768"/>
            <a:ext cx="6126480" cy="1737360"/>
          </a:xfrm>
          <a:prstGeom prst="rect">
            <a:avLst/>
          </a:prstGeom>
          <a:noFill/>
        </p:spPr>
        <p:txBody>
          <a:bodyPr wrap="square" anchor="t" lIns="0" rIns="0" tIns="0" bIns="0">
            <a:noAutofit/>
          </a:bodyPr>
          <a:lstStyle/>
          <a:p>
            <a:pPr algn="l">
              <a:lnSpc>
                <a:spcPct val="122000"/>
              </a:lnSpc>
              <a:spcBef>
                <a:spcPts val="0"/>
              </a:spcBef>
              <a:spcAft>
                <a:spcPts val="1000"/>
              </a:spcAft>
            </a:pPr>
            <a:r>
              <a:rPr sz="1400" b="0">
                <a:solidFill>
                  <a:srgbClr val="F2F0EA"/>
                </a:solidFill>
                <a:latin typeface="Arial"/>
              </a:rPr>
              <a:t>Every answer is already inside the six files you just downloaded. Nothing to predict yet.</a:t>
            </a:r>
          </a:p>
          <a:p>
            <a:pPr algn="l">
              <a:lnSpc>
                <a:spcPct val="122000"/>
              </a:lnSpc>
              <a:spcBef>
                <a:spcPts val="0"/>
              </a:spcBef>
              <a:spcAft>
                <a:spcPts val="0"/>
              </a:spcAft>
            </a:pPr>
            <a:r>
              <a:rPr sz="1400" b="0">
                <a:solidFill>
                  <a:srgbClr val="F2F0EA"/>
                </a:solidFill>
                <a:latin typeface="Arial"/>
              </a:rPr>
              <a:t>This round forces an actual read of the data before Round 2 asks you to extrapolate from it.</a:t>
            </a:r>
          </a:p>
        </p:txBody>
      </p:sp>
      <p:sp>
        <p:nvSpPr>
          <p:cNvPr id="50" name="TextBox 49"/>
          <p:cNvSpPr txBox="1"/>
          <p:nvPr/>
        </p:nvSpPr>
        <p:spPr>
          <a:xfrm>
            <a:off x="502920" y="3337560"/>
            <a:ext cx="6126480" cy="365760"/>
          </a:xfrm>
          <a:prstGeom prst="rect">
            <a:avLst/>
          </a:prstGeom>
          <a:noFill/>
        </p:spPr>
        <p:txBody>
          <a:bodyPr wrap="square" anchor="t" lIns="0" rIns="0" tIns="0" bIns="0">
            <a:noAutofit/>
          </a:bodyPr>
          <a:lstStyle/>
          <a:p>
            <a:pPr algn="l">
              <a:spcBef>
                <a:spcPts val="0"/>
              </a:spcBef>
              <a:spcAft>
                <a:spcPts val="0"/>
              </a:spcAft>
            </a:pPr>
            <a:r>
              <a:rPr sz="1200" b="1">
                <a:solidFill>
                  <a:srgbClr val="C9A227"/>
                </a:solidFill>
                <a:latin typeface="Courier New"/>
              </a:rPr>
              <a:t>EXAMPLE QUESTION TYPES</a:t>
            </a:r>
          </a:p>
        </p:txBody>
      </p:sp>
      <p:sp>
        <p:nvSpPr>
          <p:cNvPr id="51" name="TextBox 50"/>
          <p:cNvSpPr txBox="1"/>
          <p:nvPr/>
        </p:nvSpPr>
        <p:spPr>
          <a:xfrm>
            <a:off x="502920" y="3703320"/>
            <a:ext cx="6126480" cy="2194560"/>
          </a:xfrm>
          <a:prstGeom prst="rect">
            <a:avLst/>
          </a:prstGeom>
          <a:noFill/>
        </p:spPr>
        <p:txBody>
          <a:bodyPr wrap="square" anchor="t" lIns="0" rIns="0" tIns="0" bIns="0">
            <a:noAutofit/>
          </a:bodyPr>
          <a:lstStyle/>
          <a:p>
            <a:pPr algn="l">
              <a:lnSpc>
                <a:spcPct val="108000"/>
              </a:lnSpc>
              <a:spcAft>
                <a:spcPts val="800"/>
              </a:spcAft>
            </a:pPr>
            <a:r>
              <a:rPr sz="1300" b="1">
                <a:solidFill>
                  <a:srgbClr val="E23636"/>
                </a:solidFill>
                <a:latin typeface="Courier New"/>
              </a:rPr>
              <a:t>—  </a:t>
            </a:r>
            <a:r>
              <a:rPr sz="1300">
                <a:solidFill>
                  <a:srgbClr val="F2F0EA"/>
                </a:solidFill>
                <a:latin typeface="Arial"/>
              </a:rPr>
              <a:t>Film-to-film gross comparisons</a:t>
            </a:r>
          </a:p>
          <a:p>
            <a:pPr algn="l">
              <a:lnSpc>
                <a:spcPct val="108000"/>
              </a:lnSpc>
              <a:spcAft>
                <a:spcPts val="800"/>
              </a:spcAft>
            </a:pPr>
            <a:r>
              <a:rPr sz="1300" b="1">
                <a:solidFill>
                  <a:srgbClr val="E23636"/>
                </a:solidFill>
                <a:latin typeface="Courier New"/>
              </a:rPr>
              <a:t>—  </a:t>
            </a:r>
            <a:r>
              <a:rPr sz="1300">
                <a:solidFill>
                  <a:srgbClr val="F2F0EA"/>
                </a:solidFill>
                <a:latin typeface="Arial"/>
              </a:rPr>
              <a:t>Did this character survive every film they appeared in?</a:t>
            </a:r>
          </a:p>
          <a:p>
            <a:pPr algn="l">
              <a:lnSpc>
                <a:spcPct val="108000"/>
              </a:lnSpc>
              <a:spcAft>
                <a:spcPts val="800"/>
              </a:spcAft>
            </a:pPr>
            <a:r>
              <a:rPr sz="1300" b="1">
                <a:solidFill>
                  <a:srgbClr val="E23636"/>
                </a:solidFill>
                <a:latin typeface="Courier New"/>
              </a:rPr>
              <a:t>—  </a:t>
            </a:r>
            <a:r>
              <a:rPr sz="1300">
                <a:solidFill>
                  <a:srgbClr val="F2F0EA"/>
                </a:solidFill>
                <a:latin typeface="Arial"/>
              </a:rPr>
              <a:t>Which of these four has the most total screentime across 28 films?</a:t>
            </a:r>
          </a:p>
          <a:p>
            <a:pPr algn="l">
              <a:lnSpc>
                <a:spcPct val="108000"/>
              </a:lnSpc>
              <a:spcAft>
                <a:spcPts val="800"/>
              </a:spcAft>
            </a:pPr>
            <a:r>
              <a:rPr sz="1300" b="1">
                <a:solidFill>
                  <a:srgbClr val="E23636"/>
                </a:solidFill>
                <a:latin typeface="Courier New"/>
              </a:rPr>
              <a:t>—  </a:t>
            </a:r>
            <a:r>
              <a:rPr sz="1300">
                <a:solidFill>
                  <a:srgbClr val="F2F0EA"/>
                </a:solidFill>
                <a:latin typeface="Arial"/>
              </a:rPr>
              <a:t>Faction lookups</a:t>
            </a:r>
          </a:p>
          <a:p>
            <a:pPr algn="l">
              <a:lnSpc>
                <a:spcPct val="108000"/>
              </a:lnSpc>
              <a:spcAft>
                <a:spcPts val="800"/>
              </a:spcAft>
            </a:pPr>
            <a:r>
              <a:rPr sz="1300" b="1">
                <a:solidFill>
                  <a:srgbClr val="E23636"/>
                </a:solidFill>
                <a:latin typeface="Courier New"/>
              </a:rPr>
              <a:t>—  </a:t>
            </a:r>
            <a:r>
              <a:rPr sz="1300">
                <a:solidFill>
                  <a:srgbClr val="F2F0EA"/>
                </a:solidFill>
                <a:latin typeface="Arial"/>
              </a:rPr>
              <a:t>Post-credits payoff lookups</a:t>
            </a:r>
          </a:p>
        </p:txBody>
      </p:sp>
      <p:sp>
        <p:nvSpPr>
          <p:cNvPr id="52" name="Rectangle 51"/>
          <p:cNvSpPr/>
          <p:nvPr/>
        </p:nvSpPr>
        <p:spPr>
          <a:xfrm>
            <a:off x="7013448" y="1636776"/>
            <a:ext cx="4803343" cy="42976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949440" y="1572768"/>
            <a:ext cx="4803343" cy="4297680"/>
          </a:xfrm>
          <a:prstGeom prst="rect">
            <a:avLst/>
          </a:prstGeom>
          <a:solidFill>
            <a:srgbClr val="000000"/>
          </a:solidFill>
          <a:ln w="38100">
            <a:solidFill>
              <a:srgbClr val="E2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205472" y="1783080"/>
            <a:ext cx="4291279" cy="3840480"/>
          </a:xfrm>
          <a:prstGeom prst="rect">
            <a:avLst/>
          </a:prstGeom>
          <a:noFill/>
        </p:spPr>
        <p:txBody>
          <a:bodyPr wrap="square" anchor="t" lIns="0" rIns="0" tIns="0" bIns="0">
            <a:noAutofit/>
          </a:bodyPr>
          <a:lstStyle/>
          <a:p>
            <a:pPr algn="ctr">
              <a:spcBef>
                <a:spcPts val="0"/>
              </a:spcBef>
              <a:spcAft>
                <a:spcPts val="0"/>
              </a:spcAft>
            </a:pPr>
            <a:r>
              <a:rPr sz="5400" b="1">
                <a:solidFill>
                  <a:srgbClr val="E23636"/>
                </a:solidFill>
                <a:latin typeface="Courier New"/>
              </a:rPr>
              <a:t>10</a:t>
            </a:r>
          </a:p>
          <a:p>
            <a:pPr algn="ctr">
              <a:spcBef>
                <a:spcPts val="0"/>
              </a:spcBef>
              <a:spcAft>
                <a:spcPts val="2400"/>
              </a:spcAft>
            </a:pPr>
            <a:r>
              <a:rPr sz="1800" b="0">
                <a:solidFill>
                  <a:srgbClr val="F2F0EA"/>
                </a:solidFill>
                <a:latin typeface="Impact"/>
              </a:rPr>
              <a:t>QUESTIONS</a:t>
            </a:r>
          </a:p>
          <a:p>
            <a:pPr algn="ctr">
              <a:lnSpc>
                <a:spcPct val="120000"/>
              </a:lnSpc>
              <a:spcBef>
                <a:spcPts val="0"/>
              </a:spcBef>
              <a:spcAft>
                <a:spcPts val="2000"/>
              </a:spcAft>
            </a:pPr>
            <a:r>
              <a:rPr sz="1150" b="0">
                <a:solidFill>
                  <a:srgbClr val="F2F0EA"/>
                </a:solidFill>
                <a:latin typeface="Arial"/>
              </a:rPr>
              <a:t>Cross-file joins and per-character aggregates — not single-cell lookups.</a:t>
            </a:r>
          </a:p>
          <a:p>
            <a:pPr algn="ctr">
              <a:lnSpc>
                <a:spcPct val="120000"/>
              </a:lnSpc>
              <a:spcBef>
                <a:spcPts val="0"/>
              </a:spcBef>
              <a:spcAft>
                <a:spcPts val="0"/>
              </a:spcAft>
            </a:pPr>
            <a:r>
              <a:rPr sz="1150" b="0">
                <a:solidFill>
                  <a:srgbClr val="58D68D"/>
                </a:solidFill>
                <a:latin typeface="Arial"/>
              </a:rPr>
              <a:t>Answered as probabilities, same as every round. Graded on submission.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0F12"/>
        </a:solidFill>
        <a:effectLst/>
      </p:bgPr>
    </p:bg>
    <p:spTree>
      <p:nvGrpSpPr>
        <p:cNvPr id="1" name=""/>
        <p:cNvGrpSpPr/>
        <p:nvPr/>
      </p:nvGrpSpPr>
      <p:grpSpPr/>
      <p:sp>
        <p:nvSpPr>
          <p:cNvPr id="2" name="Rectangle 1"/>
          <p:cNvSpPr/>
          <p:nvPr/>
        </p:nvSpPr>
        <p:spPr>
          <a:xfrm>
            <a:off x="0" y="0"/>
            <a:ext cx="82296" cy="6858000"/>
          </a:xfrm>
          <a:prstGeom prst="rect">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39677"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09494"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779312"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949129"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118946"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88763"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458580"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28397"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798214"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968032"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137849"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307666"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477483"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647300"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439677"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09494"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79312"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949129"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118946"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288763"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458580"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628397"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798214"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968032"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137849"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1307666"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1477483"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1647300"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439677"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609494"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779312"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49129"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118946"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288763"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458580"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628397"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798214"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968032"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1137849"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307666"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1477483"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647300"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2920" y="347472"/>
            <a:ext cx="7315200" cy="292608"/>
          </a:xfrm>
          <a:prstGeom prst="rect">
            <a:avLst/>
          </a:prstGeom>
          <a:noFill/>
        </p:spPr>
        <p:txBody>
          <a:bodyPr wrap="square" anchor="t" lIns="0" rIns="0" tIns="0" bIns="0">
            <a:noAutofit/>
          </a:bodyPr>
          <a:lstStyle/>
          <a:p>
            <a:pPr algn="l">
              <a:spcBef>
                <a:spcPts val="0"/>
              </a:spcBef>
              <a:spcAft>
                <a:spcPts val="0"/>
              </a:spcAft>
            </a:pPr>
            <a:r>
              <a:rPr sz="1300" b="1">
                <a:solidFill>
                  <a:srgbClr val="C9A227"/>
                </a:solidFill>
                <a:latin typeface="Courier New"/>
              </a:rPr>
              <a:t>05 / 11  --  ROUND 2 · PREDICT · 60-90 MIN</a:t>
            </a:r>
          </a:p>
        </p:txBody>
      </p:sp>
      <p:sp>
        <p:nvSpPr>
          <p:cNvPr id="46" name="TextBox 45"/>
          <p:cNvSpPr txBox="1"/>
          <p:nvPr/>
        </p:nvSpPr>
        <p:spPr>
          <a:xfrm>
            <a:off x="502920" y="640080"/>
            <a:ext cx="11249863" cy="603504"/>
          </a:xfrm>
          <a:prstGeom prst="rect">
            <a:avLst/>
          </a:prstGeom>
          <a:noFill/>
        </p:spPr>
        <p:txBody>
          <a:bodyPr wrap="square" anchor="t" lIns="0" rIns="0" tIns="0" bIns="0">
            <a:noAutofit/>
          </a:bodyPr>
          <a:lstStyle/>
          <a:p>
            <a:pPr algn="l">
              <a:spcBef>
                <a:spcPts val="0"/>
              </a:spcBef>
              <a:spcAft>
                <a:spcPts val="0"/>
              </a:spcAft>
            </a:pPr>
            <a:r>
              <a:rPr sz="2800" b="0">
                <a:solidFill>
                  <a:srgbClr val="F2F0EA"/>
                </a:solidFill>
                <a:latin typeface="Impact"/>
              </a:rPr>
              <a:t>24 QUESTIONS. NOTHING TO LOOK UP.</a:t>
            </a:r>
          </a:p>
        </p:txBody>
      </p:sp>
      <p:sp>
        <p:nvSpPr>
          <p:cNvPr id="47" name="Rectangle 46"/>
          <p:cNvSpPr/>
          <p:nvPr/>
        </p:nvSpPr>
        <p:spPr>
          <a:xfrm>
            <a:off x="502920" y="1298448"/>
            <a:ext cx="11249863" cy="38100"/>
          </a:xfrm>
          <a:prstGeom prst="rect">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02920" y="6547104"/>
            <a:ext cx="6400800" cy="256032"/>
          </a:xfrm>
          <a:prstGeom prst="rect">
            <a:avLst/>
          </a:prstGeom>
          <a:noFill/>
        </p:spPr>
        <p:txBody>
          <a:bodyPr wrap="square" anchor="t" lIns="0" rIns="0" tIns="0" bIns="0">
            <a:noAutofit/>
          </a:bodyPr>
          <a:lstStyle/>
          <a:p>
            <a:pPr algn="l">
              <a:spcBef>
                <a:spcPts val="0"/>
              </a:spcBef>
              <a:spcAft>
                <a:spcPts val="0"/>
              </a:spcAft>
            </a:pPr>
            <a:r>
              <a:rPr sz="850" b="0">
                <a:solidFill>
                  <a:srgbClr val="4A4E54"/>
                </a:solidFill>
                <a:latin typeface="Courier New"/>
              </a:rPr>
              <a:t>DOOMSDAY ALGORITHM  //  V-TAPP 2026  //  DATA SCIENCE CLUB, VIT-AP</a:t>
            </a:r>
          </a:p>
        </p:txBody>
      </p:sp>
      <p:graphicFrame>
        <p:nvGraphicFramePr>
          <p:cNvPr id="49" name="Table 48"/>
          <p:cNvGraphicFramePr>
            <a:graphicFrameLocks noGrp="1"/>
          </p:cNvGraphicFramePr>
          <p:nvPr/>
        </p:nvGraphicFramePr>
        <p:xfrm>
          <a:off x="502920" y="1554480"/>
          <a:ext cx="5760719" cy="2331720"/>
        </p:xfrm>
        <a:graphic>
          <a:graphicData uri="http://schemas.openxmlformats.org/drawingml/2006/table">
            <a:tbl>
              <a:tblPr>
                <a:tableStyleId>{5940675A-B579-460E-94D1-54222C63F5DA}</a:tableStyleId>
              </a:tblPr>
              <a:tblGrid>
                <a:gridCol w="1951211"/>
                <a:gridCol w="464574"/>
                <a:gridCol w="3344934"/>
              </a:tblGrid>
              <a:tr h="365760">
                <a:tc>
                  <a:txBody>
                    <a:bodyPr/>
                    <a:lstStyle/>
                    <a:p>
                      <a:pPr algn="l"/>
                      <a:r>
                        <a:rPr sz="1100" b="1">
                          <a:solidFill>
                            <a:srgbClr val="F2F0EA"/>
                          </a:solidFill>
                          <a:latin typeface="Arial"/>
                        </a:rPr>
                        <a:t>TYPE</a:t>
                      </a:r>
                    </a:p>
                  </a:txBody>
                  <a:tcPr marL="91440" marR="91440" marT="27432" marB="27432" anchor="ctr">
                    <a:solidFill>
                      <a:srgbClr val="E23636"/>
                    </a:solidFill>
                  </a:tcPr>
                </a:tc>
                <a:tc>
                  <a:txBody>
                    <a:bodyPr/>
                    <a:lstStyle/>
                    <a:p>
                      <a:pPr algn="ctr"/>
                      <a:r>
                        <a:rPr sz="1100" b="1">
                          <a:solidFill>
                            <a:srgbClr val="F2F0EA"/>
                          </a:solidFill>
                          <a:latin typeface="Arial"/>
                        </a:rPr>
                        <a:t>#</a:t>
                      </a:r>
                    </a:p>
                  </a:txBody>
                  <a:tcPr marL="91440" marR="91440" marT="27432" marB="27432" anchor="ctr">
                    <a:solidFill>
                      <a:srgbClr val="E23636"/>
                    </a:solidFill>
                  </a:tcPr>
                </a:tc>
                <a:tc>
                  <a:txBody>
                    <a:bodyPr/>
                    <a:lstStyle/>
                    <a:p>
                      <a:pPr algn="l"/>
                      <a:r>
                        <a:rPr sz="1100" b="1">
                          <a:solidFill>
                            <a:srgbClr val="F2F0EA"/>
                          </a:solidFill>
                          <a:latin typeface="Arial"/>
                        </a:rPr>
                        <a:t>EXAMPLE</a:t>
                      </a:r>
                    </a:p>
                  </a:txBody>
                  <a:tcPr marL="91440" marR="91440" marT="27432" marB="27432" anchor="ctr">
                    <a:solidFill>
                      <a:srgbClr val="E23636"/>
                    </a:solidFill>
                  </a:tcPr>
                </a:tc>
              </a:tr>
              <a:tr h="491490">
                <a:tc>
                  <a:txBody>
                    <a:bodyPr/>
                    <a:lstStyle/>
                    <a:p>
                      <a:pPr algn="l"/>
                      <a:r>
                        <a:rPr sz="1030" b="0">
                          <a:solidFill>
                            <a:srgbClr val="F2F0EA"/>
                          </a:solidFill>
                          <a:latin typeface="Arial"/>
                        </a:rPr>
                        <a:t>Survival</a:t>
                      </a:r>
                    </a:p>
                  </a:txBody>
                  <a:tcPr marL="91440" marR="91440" marT="27432" marB="27432" anchor="ctr">
                    <a:solidFill>
                      <a:srgbClr val="0C0F12"/>
                    </a:solidFill>
                  </a:tcPr>
                </a:tc>
                <a:tc>
                  <a:txBody>
                    <a:bodyPr/>
                    <a:lstStyle/>
                    <a:p>
                      <a:pPr algn="ctr"/>
                      <a:r>
                        <a:rPr sz="1030" b="0">
                          <a:solidFill>
                            <a:srgbClr val="F2F0EA"/>
                          </a:solidFill>
                          <a:latin typeface="Courier New"/>
                        </a:rPr>
                        <a:t>10</a:t>
                      </a:r>
                    </a:p>
                  </a:txBody>
                  <a:tcPr marL="91440" marR="91440" marT="27432" marB="27432" anchor="ctr">
                    <a:solidFill>
                      <a:srgbClr val="0C0F12"/>
                    </a:solidFill>
                  </a:tcPr>
                </a:tc>
                <a:tc>
                  <a:txBody>
                    <a:bodyPr/>
                    <a:lstStyle/>
                    <a:p>
                      <a:pPr algn="l"/>
                      <a:r>
                        <a:rPr sz="1030" b="0">
                          <a:solidFill>
                            <a:srgbClr val="F2F0EA"/>
                          </a:solidFill>
                          <a:latin typeface="Arial"/>
                        </a:rPr>
                        <a:t>“Will Thanos survive Phase 5?”</a:t>
                      </a:r>
                    </a:p>
                  </a:txBody>
                  <a:tcPr marL="91440" marR="91440" marT="27432" marB="27432" anchor="ctr">
                    <a:solidFill>
                      <a:srgbClr val="0C0F12"/>
                    </a:solidFill>
                  </a:tcPr>
                </a:tc>
              </a:tr>
              <a:tr h="491490">
                <a:tc>
                  <a:txBody>
                    <a:bodyPr/>
                    <a:lstStyle/>
                    <a:p>
                      <a:pPr algn="l"/>
                      <a:r>
                        <a:rPr sz="1030" b="0">
                          <a:solidFill>
                            <a:srgbClr val="F2F0EA"/>
                          </a:solidFill>
                          <a:latin typeface="Arial"/>
                        </a:rPr>
                        <a:t>Team-up</a:t>
                      </a:r>
                    </a:p>
                  </a:txBody>
                  <a:tcPr marL="91440" marR="91440" marT="27432" marB="27432" anchor="ctr">
                    <a:solidFill>
                      <a:srgbClr val="0C0F12"/>
                    </a:solidFill>
                  </a:tcPr>
                </a:tc>
                <a:tc>
                  <a:txBody>
                    <a:bodyPr/>
                    <a:lstStyle/>
                    <a:p>
                      <a:pPr algn="ctr"/>
                      <a:r>
                        <a:rPr sz="1030" b="0">
                          <a:solidFill>
                            <a:srgbClr val="F2F0EA"/>
                          </a:solidFill>
                          <a:latin typeface="Courier New"/>
                        </a:rPr>
                        <a:t>6</a:t>
                      </a:r>
                    </a:p>
                  </a:txBody>
                  <a:tcPr marL="91440" marR="91440" marT="27432" marB="27432" anchor="ctr">
                    <a:solidFill>
                      <a:srgbClr val="0C0F12"/>
                    </a:solidFill>
                  </a:tcPr>
                </a:tc>
                <a:tc>
                  <a:txBody>
                    <a:bodyPr/>
                    <a:lstStyle/>
                    <a:p>
                      <a:pPr algn="l"/>
                      <a:r>
                        <a:rPr sz="1030" b="0">
                          <a:solidFill>
                            <a:srgbClr val="F2F0EA"/>
                          </a:solidFill>
                          <a:latin typeface="Arial"/>
                        </a:rPr>
                        <a:t>“Will Loki appear in a team-up in Phase 5?”</a:t>
                      </a:r>
                    </a:p>
                  </a:txBody>
                  <a:tcPr marL="91440" marR="91440" marT="27432" marB="27432" anchor="ctr">
                    <a:solidFill>
                      <a:srgbClr val="0C0F12"/>
                    </a:solidFill>
                  </a:tcPr>
                </a:tc>
              </a:tr>
              <a:tr h="491490">
                <a:tc>
                  <a:txBody>
                    <a:bodyPr/>
                    <a:lstStyle/>
                    <a:p>
                      <a:pPr algn="l"/>
                      <a:r>
                        <a:rPr sz="1030" b="0">
                          <a:solidFill>
                            <a:srgbClr val="F2F0EA"/>
                          </a:solidFill>
                          <a:latin typeface="Arial"/>
                        </a:rPr>
                        <a:t>Closest partner</a:t>
                      </a:r>
                    </a:p>
                  </a:txBody>
                  <a:tcPr marL="91440" marR="91440" marT="27432" marB="27432" anchor="ctr">
                    <a:solidFill>
                      <a:srgbClr val="0C0F12"/>
                    </a:solidFill>
                  </a:tcPr>
                </a:tc>
                <a:tc>
                  <a:txBody>
                    <a:bodyPr/>
                    <a:lstStyle/>
                    <a:p>
                      <a:pPr algn="ctr"/>
                      <a:r>
                        <a:rPr sz="1030" b="0">
                          <a:solidFill>
                            <a:srgbClr val="F2F0EA"/>
                          </a:solidFill>
                          <a:latin typeface="Courier New"/>
                        </a:rPr>
                        <a:t>4</a:t>
                      </a:r>
                    </a:p>
                  </a:txBody>
                  <a:tcPr marL="91440" marR="91440" marT="27432" marB="27432" anchor="ctr">
                    <a:solidFill>
                      <a:srgbClr val="0C0F12"/>
                    </a:solidFill>
                  </a:tcPr>
                </a:tc>
                <a:tc>
                  <a:txBody>
                    <a:bodyPr/>
                    <a:lstStyle/>
                    <a:p>
                      <a:pPr algn="l"/>
                      <a:r>
                        <a:rPr sz="1030" b="0">
                          <a:solidFill>
                            <a:srgbClr val="F2F0EA"/>
                          </a:solidFill>
                          <a:latin typeface="Arial"/>
                        </a:rPr>
                        <a:t>“Who shares the most scenes with Shuri?” (MCQ)</a:t>
                      </a:r>
                    </a:p>
                  </a:txBody>
                  <a:tcPr marL="91440" marR="91440" marT="27432" marB="27432" anchor="ctr">
                    <a:solidFill>
                      <a:srgbClr val="0C0F12"/>
                    </a:solidFill>
                  </a:tcPr>
                </a:tc>
              </a:tr>
              <a:tr h="491490">
                <a:tc>
                  <a:txBody>
                    <a:bodyPr/>
                    <a:lstStyle/>
                    <a:p>
                      <a:pPr algn="l"/>
                      <a:r>
                        <a:rPr sz="1030" b="0">
                          <a:solidFill>
                            <a:srgbClr val="F2F0EA"/>
                          </a:solidFill>
                          <a:latin typeface="Arial"/>
                        </a:rPr>
                        <a:t>Screentime comparison</a:t>
                      </a:r>
                    </a:p>
                  </a:txBody>
                  <a:tcPr marL="91440" marR="91440" marT="27432" marB="27432" anchor="ctr">
                    <a:solidFill>
                      <a:srgbClr val="0C0F12"/>
                    </a:solidFill>
                  </a:tcPr>
                </a:tc>
                <a:tc>
                  <a:txBody>
                    <a:bodyPr/>
                    <a:lstStyle/>
                    <a:p>
                      <a:pPr algn="ctr"/>
                      <a:r>
                        <a:rPr sz="1030" b="0">
                          <a:solidFill>
                            <a:srgbClr val="F2F0EA"/>
                          </a:solidFill>
                          <a:latin typeface="Courier New"/>
                        </a:rPr>
                        <a:t>4</a:t>
                      </a:r>
                    </a:p>
                  </a:txBody>
                  <a:tcPr marL="91440" marR="91440" marT="27432" marB="27432" anchor="ctr">
                    <a:solidFill>
                      <a:srgbClr val="0C0F12"/>
                    </a:solidFill>
                  </a:tcPr>
                </a:tc>
                <a:tc>
                  <a:txBody>
                    <a:bodyPr/>
                    <a:lstStyle/>
                    <a:p>
                      <a:pPr algn="l"/>
                      <a:r>
                        <a:rPr sz="1030" b="0">
                          <a:solidFill>
                            <a:srgbClr val="F2F0EA"/>
                          </a:solidFill>
                          <a:latin typeface="Arial"/>
                        </a:rPr>
                        <a:t>“Will Vision beat Nebula in screentime?”</a:t>
                      </a:r>
                    </a:p>
                  </a:txBody>
                  <a:tcPr marL="91440" marR="91440" marT="27432" marB="27432" anchor="ctr">
                    <a:solidFill>
                      <a:srgbClr val="0C0F12"/>
                    </a:solidFill>
                  </a:tcPr>
                </a:tc>
              </a:tr>
            </a:tbl>
          </a:graphicData>
        </a:graphic>
      </p:graphicFrame>
      <p:sp>
        <p:nvSpPr>
          <p:cNvPr id="50" name="TextBox 49"/>
          <p:cNvSpPr txBox="1"/>
          <p:nvPr/>
        </p:nvSpPr>
        <p:spPr>
          <a:xfrm>
            <a:off x="502920" y="4069080"/>
            <a:ext cx="5760720" cy="320040"/>
          </a:xfrm>
          <a:prstGeom prst="rect">
            <a:avLst/>
          </a:prstGeom>
          <a:noFill/>
        </p:spPr>
        <p:txBody>
          <a:bodyPr wrap="square" anchor="t" lIns="0" rIns="0" tIns="0" bIns="0">
            <a:noAutofit/>
          </a:bodyPr>
          <a:lstStyle/>
          <a:p>
            <a:pPr algn="l">
              <a:spcBef>
                <a:spcPts val="0"/>
              </a:spcBef>
              <a:spcAft>
                <a:spcPts val="0"/>
              </a:spcAft>
            </a:pPr>
            <a:r>
              <a:rPr sz="1050" b="1">
                <a:solidFill>
                  <a:srgbClr val="C9A227"/>
                </a:solidFill>
                <a:latin typeface="Courier New"/>
              </a:rPr>
              <a:t>PHASE 5 HASN’T HAPPENED — NO FILE HOLDS THESE ANSWERS</a:t>
            </a:r>
          </a:p>
        </p:txBody>
      </p:sp>
      <p:sp>
        <p:nvSpPr>
          <p:cNvPr id="51" name="TextBox 50"/>
          <p:cNvSpPr txBox="1"/>
          <p:nvPr/>
        </p:nvSpPr>
        <p:spPr>
          <a:xfrm>
            <a:off x="502920" y="4434840"/>
            <a:ext cx="5760720" cy="1417320"/>
          </a:xfrm>
          <a:prstGeom prst="rect">
            <a:avLst/>
          </a:prstGeom>
          <a:noFill/>
        </p:spPr>
        <p:txBody>
          <a:bodyPr wrap="square" anchor="t" lIns="0" rIns="0" tIns="0" bIns="0">
            <a:noAutofit/>
          </a:bodyPr>
          <a:lstStyle/>
          <a:p>
            <a:pPr algn="l">
              <a:lnSpc>
                <a:spcPct val="122000"/>
              </a:lnSpc>
              <a:spcBef>
                <a:spcPts val="0"/>
              </a:spcBef>
              <a:spcAft>
                <a:spcPts val="0"/>
              </a:spcAft>
            </a:pPr>
            <a:r>
              <a:rPr sz="1200" b="0">
                <a:solidFill>
                  <a:srgbClr val="F2F0EA"/>
                </a:solidFill>
                <a:latin typeface="Arial"/>
              </a:rPr>
              <a:t>Every answer is a probability, 0–100%, scored with a Brier score — a proper scoring rule. The strategy that maximises your score is to state what you actually believe. Bluffing 95% and being wrong costs more than an honest 60%.</a:t>
            </a:r>
          </a:p>
        </p:txBody>
      </p:sp>
      <p:sp>
        <p:nvSpPr>
          <p:cNvPr id="52" name="TextBox 51"/>
          <p:cNvSpPr txBox="1"/>
          <p:nvPr/>
        </p:nvSpPr>
        <p:spPr>
          <a:xfrm>
            <a:off x="6629400" y="1554480"/>
            <a:ext cx="5123383" cy="320040"/>
          </a:xfrm>
          <a:prstGeom prst="rect">
            <a:avLst/>
          </a:prstGeom>
          <a:noFill/>
        </p:spPr>
        <p:txBody>
          <a:bodyPr wrap="square" anchor="t" lIns="0" rIns="0" tIns="0" bIns="0">
            <a:noAutofit/>
          </a:bodyPr>
          <a:lstStyle/>
          <a:p>
            <a:pPr algn="l">
              <a:spcBef>
                <a:spcPts val="0"/>
              </a:spcBef>
              <a:spcAft>
                <a:spcPts val="0"/>
              </a:spcAft>
            </a:pPr>
            <a:r>
              <a:rPr sz="1200" b="1">
                <a:solidFill>
                  <a:srgbClr val="C9A227"/>
                </a:solidFill>
                <a:latin typeface="Courier New"/>
              </a:rPr>
              <a:t>WORKED EXAMPLE</a:t>
            </a:r>
          </a:p>
        </p:txBody>
      </p:sp>
      <p:graphicFrame>
        <p:nvGraphicFramePr>
          <p:cNvPr id="53" name="Table 52"/>
          <p:cNvGraphicFramePr>
            <a:graphicFrameLocks noGrp="1"/>
          </p:cNvGraphicFramePr>
          <p:nvPr/>
        </p:nvGraphicFramePr>
        <p:xfrm>
          <a:off x="6629400" y="1938528"/>
          <a:ext cx="5123382" cy="2880358"/>
        </p:xfrm>
        <a:graphic>
          <a:graphicData uri="http://schemas.openxmlformats.org/drawingml/2006/table">
            <a:tbl>
              <a:tblPr>
                <a:tableStyleId>{5940675A-B579-460E-94D1-54222C63F5DA}</a:tableStyleId>
              </a:tblPr>
              <a:tblGrid>
                <a:gridCol w="1902970"/>
                <a:gridCol w="1610206"/>
                <a:gridCol w="1610206"/>
              </a:tblGrid>
              <a:tr h="384048">
                <a:tc>
                  <a:txBody>
                    <a:bodyPr/>
                    <a:lstStyle/>
                    <a:p>
                      <a:pPr algn="ctr"/>
                      <a:r>
                        <a:rPr sz="1150" b="1">
                          <a:solidFill>
                            <a:srgbClr val="F2F0EA"/>
                          </a:solidFill>
                          <a:latin typeface="Arial"/>
                        </a:rPr>
                        <a:t>YOU SAID</a:t>
                      </a:r>
                    </a:p>
                  </a:txBody>
                  <a:tcPr marL="91440" marR="91440" marT="27432" marB="27432" anchor="ctr">
                    <a:solidFill>
                      <a:srgbClr val="E23636"/>
                    </a:solidFill>
                  </a:tcPr>
                </a:tc>
                <a:tc>
                  <a:txBody>
                    <a:bodyPr/>
                    <a:lstStyle/>
                    <a:p>
                      <a:pPr algn="ctr"/>
                      <a:r>
                        <a:rPr sz="1150" b="1">
                          <a:solidFill>
                            <a:srgbClr val="F2F0EA"/>
                          </a:solidFill>
                          <a:latin typeface="Arial"/>
                        </a:rPr>
                        <a:t>TRUTH</a:t>
                      </a:r>
                    </a:p>
                  </a:txBody>
                  <a:tcPr marL="91440" marR="91440" marT="27432" marB="27432" anchor="ctr">
                    <a:solidFill>
                      <a:srgbClr val="E23636"/>
                    </a:solidFill>
                  </a:tcPr>
                </a:tc>
                <a:tc>
                  <a:txBody>
                    <a:bodyPr/>
                    <a:lstStyle/>
                    <a:p>
                      <a:pPr algn="ctr"/>
                      <a:r>
                        <a:rPr sz="1150" b="1">
                          <a:solidFill>
                            <a:srgbClr val="F2F0EA"/>
                          </a:solidFill>
                          <a:latin typeface="Arial"/>
                        </a:rPr>
                        <a:t>POINTS</a:t>
                      </a:r>
                    </a:p>
                  </a:txBody>
                  <a:tcPr marL="91440" marR="91440" marT="27432" marB="27432" anchor="ctr">
                    <a:solidFill>
                      <a:srgbClr val="E23636"/>
                    </a:solidFill>
                  </a:tcPr>
                </a:tc>
              </a:tr>
              <a:tr h="499262">
                <a:tc>
                  <a:txBody>
                    <a:bodyPr/>
                    <a:lstStyle/>
                    <a:p>
                      <a:pPr algn="ctr"/>
                      <a:r>
                        <a:rPr sz="1250" b="0">
                          <a:solidFill>
                            <a:srgbClr val="F2F0EA"/>
                          </a:solidFill>
                          <a:latin typeface="Courier New"/>
                        </a:rPr>
                        <a:t>100%</a:t>
                      </a:r>
                    </a:p>
                  </a:txBody>
                  <a:tcPr marL="91440" marR="91440" marT="27432" marB="27432" anchor="ctr">
                    <a:solidFill>
                      <a:srgbClr val="0C0F12"/>
                    </a:solidFill>
                  </a:tcPr>
                </a:tc>
                <a:tc>
                  <a:txBody>
                    <a:bodyPr/>
                    <a:lstStyle/>
                    <a:p>
                      <a:pPr algn="ctr"/>
                      <a:r>
                        <a:rPr sz="1250" b="0">
                          <a:solidFill>
                            <a:srgbClr val="F2F0EA"/>
                          </a:solidFill>
                          <a:latin typeface="Arial"/>
                        </a:rPr>
                        <a:t>Yes</a:t>
                      </a:r>
                    </a:p>
                  </a:txBody>
                  <a:tcPr marL="91440" marR="91440" marT="27432" marB="27432" anchor="ctr">
                    <a:solidFill>
                      <a:srgbClr val="0C0F12"/>
                    </a:solidFill>
                  </a:tcPr>
                </a:tc>
                <a:tc>
                  <a:txBody>
                    <a:bodyPr/>
                    <a:lstStyle/>
                    <a:p>
                      <a:pPr algn="ctr"/>
                      <a:r>
                        <a:rPr sz="1250" b="0">
                          <a:solidFill>
                            <a:srgbClr val="F2F0EA"/>
                          </a:solidFill>
                          <a:latin typeface="Courier New"/>
                        </a:rPr>
                        <a:t>100</a:t>
                      </a:r>
                    </a:p>
                  </a:txBody>
                  <a:tcPr marL="91440" marR="91440" marT="27432" marB="27432" anchor="ctr">
                    <a:solidFill>
                      <a:srgbClr val="0C0F12"/>
                    </a:solidFill>
                  </a:tcPr>
                </a:tc>
              </a:tr>
              <a:tr h="499262">
                <a:tc>
                  <a:txBody>
                    <a:bodyPr/>
                    <a:lstStyle/>
                    <a:p>
                      <a:pPr algn="ctr"/>
                      <a:r>
                        <a:rPr sz="1250" b="0">
                          <a:solidFill>
                            <a:srgbClr val="F2F0EA"/>
                          </a:solidFill>
                          <a:latin typeface="Courier New"/>
                        </a:rPr>
                        <a:t>90%</a:t>
                      </a:r>
                    </a:p>
                  </a:txBody>
                  <a:tcPr marL="91440" marR="91440" marT="27432" marB="27432" anchor="ctr">
                    <a:solidFill>
                      <a:srgbClr val="0C0F12"/>
                    </a:solidFill>
                  </a:tcPr>
                </a:tc>
                <a:tc>
                  <a:txBody>
                    <a:bodyPr/>
                    <a:lstStyle/>
                    <a:p>
                      <a:pPr algn="ctr"/>
                      <a:r>
                        <a:rPr sz="1250" b="0">
                          <a:solidFill>
                            <a:srgbClr val="F2F0EA"/>
                          </a:solidFill>
                          <a:latin typeface="Arial"/>
                        </a:rPr>
                        <a:t>Yes</a:t>
                      </a:r>
                    </a:p>
                  </a:txBody>
                  <a:tcPr marL="91440" marR="91440" marT="27432" marB="27432" anchor="ctr">
                    <a:solidFill>
                      <a:srgbClr val="0C0F12"/>
                    </a:solidFill>
                  </a:tcPr>
                </a:tc>
                <a:tc>
                  <a:txBody>
                    <a:bodyPr/>
                    <a:lstStyle/>
                    <a:p>
                      <a:pPr algn="ctr"/>
                      <a:r>
                        <a:rPr sz="1250" b="0">
                          <a:solidFill>
                            <a:srgbClr val="F2F0EA"/>
                          </a:solidFill>
                          <a:latin typeface="Courier New"/>
                        </a:rPr>
                        <a:t>99</a:t>
                      </a:r>
                    </a:p>
                  </a:txBody>
                  <a:tcPr marL="91440" marR="91440" marT="27432" marB="27432" anchor="ctr">
                    <a:solidFill>
                      <a:srgbClr val="0C0F12"/>
                    </a:solidFill>
                  </a:tcPr>
                </a:tc>
              </a:tr>
              <a:tr h="499262">
                <a:tc>
                  <a:txBody>
                    <a:bodyPr/>
                    <a:lstStyle/>
                    <a:p>
                      <a:pPr algn="ctr"/>
                      <a:r>
                        <a:rPr sz="1250" b="0">
                          <a:solidFill>
                            <a:srgbClr val="F2F0EA"/>
                          </a:solidFill>
                          <a:latin typeface="Courier New"/>
                        </a:rPr>
                        <a:t>50%</a:t>
                      </a:r>
                    </a:p>
                  </a:txBody>
                  <a:tcPr marL="91440" marR="91440" marT="27432" marB="27432" anchor="ctr">
                    <a:solidFill>
                      <a:srgbClr val="0C0F12"/>
                    </a:solidFill>
                  </a:tcPr>
                </a:tc>
                <a:tc>
                  <a:txBody>
                    <a:bodyPr/>
                    <a:lstStyle/>
                    <a:p>
                      <a:pPr algn="ctr"/>
                      <a:r>
                        <a:rPr sz="1250" b="0">
                          <a:solidFill>
                            <a:srgbClr val="F2F0EA"/>
                          </a:solidFill>
                          <a:latin typeface="Arial"/>
                        </a:rPr>
                        <a:t>Either</a:t>
                      </a:r>
                    </a:p>
                  </a:txBody>
                  <a:tcPr marL="91440" marR="91440" marT="27432" marB="27432" anchor="ctr">
                    <a:solidFill>
                      <a:srgbClr val="0C0F12"/>
                    </a:solidFill>
                  </a:tcPr>
                </a:tc>
                <a:tc>
                  <a:txBody>
                    <a:bodyPr/>
                    <a:lstStyle/>
                    <a:p>
                      <a:pPr algn="ctr"/>
                      <a:r>
                        <a:rPr sz="1250" b="0">
                          <a:solidFill>
                            <a:srgbClr val="F2F0EA"/>
                          </a:solidFill>
                          <a:latin typeface="Courier New"/>
                        </a:rPr>
                        <a:t>75</a:t>
                      </a:r>
                    </a:p>
                  </a:txBody>
                  <a:tcPr marL="91440" marR="91440" marT="27432" marB="27432" anchor="ctr">
                    <a:solidFill>
                      <a:srgbClr val="0C0F12"/>
                    </a:solidFill>
                  </a:tcPr>
                </a:tc>
              </a:tr>
              <a:tr h="499262">
                <a:tc>
                  <a:txBody>
                    <a:bodyPr/>
                    <a:lstStyle/>
                    <a:p>
                      <a:pPr algn="ctr"/>
                      <a:r>
                        <a:rPr sz="1250" b="0">
                          <a:solidFill>
                            <a:srgbClr val="F2F0EA"/>
                          </a:solidFill>
                          <a:latin typeface="Courier New"/>
                        </a:rPr>
                        <a:t>90%</a:t>
                      </a:r>
                    </a:p>
                  </a:txBody>
                  <a:tcPr marL="91440" marR="91440" marT="27432" marB="27432" anchor="ctr">
                    <a:solidFill>
                      <a:srgbClr val="0C0F12"/>
                    </a:solidFill>
                  </a:tcPr>
                </a:tc>
                <a:tc>
                  <a:txBody>
                    <a:bodyPr/>
                    <a:lstStyle/>
                    <a:p>
                      <a:pPr algn="ctr"/>
                      <a:r>
                        <a:rPr sz="1250" b="0">
                          <a:solidFill>
                            <a:srgbClr val="F2F0EA"/>
                          </a:solidFill>
                          <a:latin typeface="Arial"/>
                        </a:rPr>
                        <a:t>No</a:t>
                      </a:r>
                    </a:p>
                  </a:txBody>
                  <a:tcPr marL="91440" marR="91440" marT="27432" marB="27432" anchor="ctr">
                    <a:solidFill>
                      <a:srgbClr val="0C0F12"/>
                    </a:solidFill>
                  </a:tcPr>
                </a:tc>
                <a:tc>
                  <a:txBody>
                    <a:bodyPr/>
                    <a:lstStyle/>
                    <a:p>
                      <a:pPr algn="ctr"/>
                      <a:r>
                        <a:rPr sz="1250" b="0">
                          <a:solidFill>
                            <a:srgbClr val="F2F0EA"/>
                          </a:solidFill>
                          <a:latin typeface="Courier New"/>
                        </a:rPr>
                        <a:t>19</a:t>
                      </a:r>
                    </a:p>
                  </a:txBody>
                  <a:tcPr marL="91440" marR="91440" marT="27432" marB="27432" anchor="ctr">
                    <a:solidFill>
                      <a:srgbClr val="0C0F12"/>
                    </a:solidFill>
                  </a:tcPr>
                </a:tc>
              </a:tr>
              <a:tr h="499262">
                <a:tc>
                  <a:txBody>
                    <a:bodyPr/>
                    <a:lstStyle/>
                    <a:p>
                      <a:pPr algn="ctr"/>
                      <a:r>
                        <a:rPr sz="1250" b="0">
                          <a:solidFill>
                            <a:srgbClr val="F2F0EA"/>
                          </a:solidFill>
                          <a:latin typeface="Courier New"/>
                        </a:rPr>
                        <a:t>100%</a:t>
                      </a:r>
                    </a:p>
                  </a:txBody>
                  <a:tcPr marL="91440" marR="91440" marT="27432" marB="27432" anchor="ctr">
                    <a:solidFill>
                      <a:srgbClr val="0C0F12"/>
                    </a:solidFill>
                  </a:tcPr>
                </a:tc>
                <a:tc>
                  <a:txBody>
                    <a:bodyPr/>
                    <a:lstStyle/>
                    <a:p>
                      <a:pPr algn="ctr"/>
                      <a:r>
                        <a:rPr sz="1250" b="0">
                          <a:solidFill>
                            <a:srgbClr val="F2F0EA"/>
                          </a:solidFill>
                          <a:latin typeface="Arial"/>
                        </a:rPr>
                        <a:t>No</a:t>
                      </a:r>
                    </a:p>
                  </a:txBody>
                  <a:tcPr marL="91440" marR="91440" marT="27432" marB="27432" anchor="ctr">
                    <a:solidFill>
                      <a:srgbClr val="0C0F12"/>
                    </a:solidFill>
                  </a:tcPr>
                </a:tc>
                <a:tc>
                  <a:txBody>
                    <a:bodyPr/>
                    <a:lstStyle/>
                    <a:p>
                      <a:pPr algn="ctr"/>
                      <a:r>
                        <a:rPr sz="1250" b="0">
                          <a:solidFill>
                            <a:srgbClr val="F2F0EA"/>
                          </a:solidFill>
                          <a:latin typeface="Courier New"/>
                        </a:rPr>
                        <a:t>0</a:t>
                      </a:r>
                    </a:p>
                  </a:txBody>
                  <a:tcPr marL="91440" marR="91440" marT="27432" marB="27432" anchor="ctr">
                    <a:solidFill>
                      <a:srgbClr val="0C0F12"/>
                    </a:solidFill>
                  </a:tcPr>
                </a:tc>
              </a:tr>
            </a:tbl>
          </a:graphicData>
        </a:graphic>
      </p:graphicFrame>
      <p:sp>
        <p:nvSpPr>
          <p:cNvPr id="54" name="TextBox 53"/>
          <p:cNvSpPr txBox="1"/>
          <p:nvPr/>
        </p:nvSpPr>
        <p:spPr>
          <a:xfrm>
            <a:off x="6629400" y="5029200"/>
            <a:ext cx="5123383" cy="777240"/>
          </a:xfrm>
          <a:prstGeom prst="rect">
            <a:avLst/>
          </a:prstGeom>
          <a:noFill/>
        </p:spPr>
        <p:txBody>
          <a:bodyPr wrap="square" anchor="t" lIns="0" rIns="0" tIns="0" bIns="0">
            <a:noAutofit/>
          </a:bodyPr>
          <a:lstStyle/>
          <a:p>
            <a:pPr algn="l">
              <a:lnSpc>
                <a:spcPct val="115000"/>
              </a:lnSpc>
              <a:spcBef>
                <a:spcPts val="0"/>
              </a:spcBef>
              <a:spcAft>
                <a:spcPts val="0"/>
              </a:spcAft>
            </a:pPr>
            <a:r>
              <a:rPr sz="1080" b="0">
                <a:solidFill>
                  <a:srgbClr val="F2F0EA"/>
                </a:solidFill>
                <a:latin typeface="Arial"/>
              </a:rPr>
              <a:t>A skipped question defaults to a neutral 75 — an honest shrug beats a bad guess.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0F12"/>
        </a:solidFill>
        <a:effectLst/>
      </p:bgPr>
    </p:bg>
    <p:spTree>
      <p:nvGrpSpPr>
        <p:cNvPr id="1" name=""/>
        <p:cNvGrpSpPr/>
        <p:nvPr/>
      </p:nvGrpSpPr>
      <p:grpSpPr/>
      <p:sp>
        <p:nvSpPr>
          <p:cNvPr id="2" name="Rectangle 1"/>
          <p:cNvSpPr/>
          <p:nvPr/>
        </p:nvSpPr>
        <p:spPr>
          <a:xfrm>
            <a:off x="0" y="0"/>
            <a:ext cx="82296" cy="6858000"/>
          </a:xfrm>
          <a:prstGeom prst="rect">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39677"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09494"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779312"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949129"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118946"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88763"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458580"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28397"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798214"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968032"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137849"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307666"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477483"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647300"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439677"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09494"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79312"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949129"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118946"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288763"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458580"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628397"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798214"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968032"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137849"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1307666"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1477483"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1647300"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439677"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609494"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779312"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49129"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118946"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288763"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458580"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628397"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798214"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968032"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1137849"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307666"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1477483"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647300"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2920" y="347472"/>
            <a:ext cx="7315200" cy="292608"/>
          </a:xfrm>
          <a:prstGeom prst="rect">
            <a:avLst/>
          </a:prstGeom>
          <a:noFill/>
        </p:spPr>
        <p:txBody>
          <a:bodyPr wrap="square" anchor="t" lIns="0" rIns="0" tIns="0" bIns="0">
            <a:noAutofit/>
          </a:bodyPr>
          <a:lstStyle/>
          <a:p>
            <a:pPr algn="l">
              <a:spcBef>
                <a:spcPts val="0"/>
              </a:spcBef>
              <a:spcAft>
                <a:spcPts val="0"/>
              </a:spcAft>
            </a:pPr>
            <a:r>
              <a:rPr sz="1300" b="1">
                <a:solidFill>
                  <a:srgbClr val="C9A227"/>
                </a:solidFill>
                <a:latin typeface="Courier New"/>
              </a:rPr>
              <a:t>06 / 11  --  ROUND 3 · DRAFT · 5 MIN</a:t>
            </a:r>
          </a:p>
        </p:txBody>
      </p:sp>
      <p:sp>
        <p:nvSpPr>
          <p:cNvPr id="46" name="TextBox 45"/>
          <p:cNvSpPr txBox="1"/>
          <p:nvPr/>
        </p:nvSpPr>
        <p:spPr>
          <a:xfrm>
            <a:off x="502920" y="640080"/>
            <a:ext cx="11249863" cy="603504"/>
          </a:xfrm>
          <a:prstGeom prst="rect">
            <a:avLst/>
          </a:prstGeom>
          <a:noFill/>
        </p:spPr>
        <p:txBody>
          <a:bodyPr wrap="square" anchor="t" lIns="0" rIns="0" tIns="0" bIns="0">
            <a:noAutofit/>
          </a:bodyPr>
          <a:lstStyle/>
          <a:p>
            <a:pPr algn="l">
              <a:spcBef>
                <a:spcPts val="0"/>
              </a:spcBef>
              <a:spcAft>
                <a:spcPts val="0"/>
              </a:spcAft>
            </a:pPr>
            <a:r>
              <a:rPr sz="3400" b="0">
                <a:solidFill>
                  <a:srgbClr val="F2F0EA"/>
                </a:solidFill>
                <a:latin typeface="Impact"/>
              </a:rPr>
              <a:t>CLAIM YOUR CHARACTER</a:t>
            </a:r>
          </a:p>
        </p:txBody>
      </p:sp>
      <p:sp>
        <p:nvSpPr>
          <p:cNvPr id="47" name="Rectangle 46"/>
          <p:cNvSpPr/>
          <p:nvPr/>
        </p:nvSpPr>
        <p:spPr>
          <a:xfrm>
            <a:off x="502920" y="1298448"/>
            <a:ext cx="11249863" cy="38100"/>
          </a:xfrm>
          <a:prstGeom prst="rect">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02920" y="6547104"/>
            <a:ext cx="6400800" cy="256032"/>
          </a:xfrm>
          <a:prstGeom prst="rect">
            <a:avLst/>
          </a:prstGeom>
          <a:noFill/>
        </p:spPr>
        <p:txBody>
          <a:bodyPr wrap="square" anchor="t" lIns="0" rIns="0" tIns="0" bIns="0">
            <a:noAutofit/>
          </a:bodyPr>
          <a:lstStyle/>
          <a:p>
            <a:pPr algn="l">
              <a:spcBef>
                <a:spcPts val="0"/>
              </a:spcBef>
              <a:spcAft>
                <a:spcPts val="0"/>
              </a:spcAft>
            </a:pPr>
            <a:r>
              <a:rPr sz="850" b="0">
                <a:solidFill>
                  <a:srgbClr val="4A4E54"/>
                </a:solidFill>
                <a:latin typeface="Courier New"/>
              </a:rPr>
              <a:t>DOOMSDAY ALGORITHM  //  V-TAPP 2026  //  DATA SCIENCE CLUB, VIT-AP</a:t>
            </a:r>
          </a:p>
        </p:txBody>
      </p:sp>
      <p:sp>
        <p:nvSpPr>
          <p:cNvPr id="49" name="TextBox 48"/>
          <p:cNvSpPr txBox="1"/>
          <p:nvPr/>
        </p:nvSpPr>
        <p:spPr>
          <a:xfrm>
            <a:off x="502920" y="1572768"/>
            <a:ext cx="6035040" cy="1828800"/>
          </a:xfrm>
          <a:prstGeom prst="rect">
            <a:avLst/>
          </a:prstGeom>
          <a:noFill/>
        </p:spPr>
        <p:txBody>
          <a:bodyPr wrap="square" anchor="t" lIns="0" rIns="0" tIns="0" bIns="0">
            <a:noAutofit/>
          </a:bodyPr>
          <a:lstStyle/>
          <a:p>
            <a:pPr algn="l">
              <a:lnSpc>
                <a:spcPct val="122000"/>
              </a:lnSpc>
              <a:spcBef>
                <a:spcPts val="0"/>
              </a:spcBef>
              <a:spcAft>
                <a:spcPts val="1000"/>
              </a:spcAft>
            </a:pPr>
            <a:r>
              <a:rPr sz="1500" b="0">
                <a:solidFill>
                  <a:srgbClr val="F2F0EA"/>
                </a:solidFill>
                <a:latin typeface="Arial"/>
              </a:rPr>
              <a:t>Claim 1 character you believe survives Phase 5, from a pool of 43.</a:t>
            </a:r>
          </a:p>
          <a:p>
            <a:pPr algn="l">
              <a:lnSpc>
                <a:spcPct val="122000"/>
              </a:lnSpc>
              <a:spcBef>
                <a:spcPts val="0"/>
              </a:spcBef>
              <a:spcAft>
                <a:spcPts val="0"/>
              </a:spcAft>
            </a:pPr>
            <a:r>
              <a:rPr sz="1350" b="0">
                <a:solidFill>
                  <a:srgbClr val="F2F0EA"/>
                </a:solidFill>
                <a:latin typeface="Arial"/>
              </a:rPr>
              <a:t>Exclusive and first-come — claimed atomically in the database, so two browser tabs can’t double-claim the same character.</a:t>
            </a:r>
          </a:p>
        </p:txBody>
      </p:sp>
      <p:sp>
        <p:nvSpPr>
          <p:cNvPr id="50" name="Rectangle 49"/>
          <p:cNvSpPr/>
          <p:nvPr/>
        </p:nvSpPr>
        <p:spPr>
          <a:xfrm rot="21240000">
            <a:off x="594360" y="3657600"/>
            <a:ext cx="2468880" cy="868680"/>
          </a:xfrm>
          <a:prstGeom prst="rect">
            <a:avLst/>
          </a:prstGeom>
          <a:noFill/>
          <a:ln w="25400">
            <a:solidFill>
              <a:srgbClr val="E2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rot="21240000">
            <a:off x="594360" y="3657600"/>
            <a:ext cx="2468880" cy="868680"/>
          </a:xfrm>
          <a:prstGeom prst="rect">
            <a:avLst/>
          </a:prstGeom>
          <a:noFill/>
        </p:spPr>
        <p:txBody>
          <a:bodyPr wrap="square" anchor="ctr" lIns="0" rIns="0" tIns="0" bIns="0">
            <a:noAutofit/>
          </a:bodyPr>
          <a:lstStyle/>
          <a:p>
            <a:pPr algn="ctr">
              <a:spcBef>
                <a:spcPts val="0"/>
              </a:spcBef>
              <a:spcAft>
                <a:spcPts val="100"/>
              </a:spcAft>
            </a:pPr>
            <a:r>
              <a:rPr sz="1300" b="1">
                <a:solidFill>
                  <a:srgbClr val="FF6B6B"/>
                </a:solidFill>
                <a:latin typeface="Courier New"/>
              </a:rPr>
              <a:t>FIRST-COME</a:t>
            </a:r>
          </a:p>
          <a:p>
            <a:pPr algn="ctr">
              <a:spcBef>
                <a:spcPts val="0"/>
              </a:spcBef>
              <a:spcAft>
                <a:spcPts val="100"/>
              </a:spcAft>
            </a:pPr>
            <a:r>
              <a:rPr sz="1300" b="1">
                <a:solidFill>
                  <a:srgbClr val="FF6B6B"/>
                </a:solidFill>
                <a:latin typeface="Courier New"/>
              </a:rPr>
              <a:t>EXCLUSIVE</a:t>
            </a:r>
          </a:p>
        </p:txBody>
      </p:sp>
      <p:sp>
        <p:nvSpPr>
          <p:cNvPr id="52" name="TextBox 51"/>
          <p:cNvSpPr txBox="1"/>
          <p:nvPr/>
        </p:nvSpPr>
        <p:spPr>
          <a:xfrm>
            <a:off x="502920" y="4846320"/>
            <a:ext cx="6035040" cy="1280160"/>
          </a:xfrm>
          <a:prstGeom prst="rect">
            <a:avLst/>
          </a:prstGeom>
          <a:noFill/>
        </p:spPr>
        <p:txBody>
          <a:bodyPr wrap="square" anchor="t" lIns="0" rIns="0" tIns="0" bIns="0">
            <a:noAutofit/>
          </a:bodyPr>
          <a:lstStyle/>
          <a:p>
            <a:pPr algn="l">
              <a:lnSpc>
                <a:spcPct val="120000"/>
              </a:lnSpc>
              <a:spcBef>
                <a:spcPts val="0"/>
              </a:spcBef>
              <a:spcAft>
                <a:spcPts val="0"/>
              </a:spcAft>
            </a:pPr>
            <a:r>
              <a:rPr sz="1200" b="0">
                <a:solidFill>
                  <a:srgbClr val="F2F0EA"/>
                </a:solidFill>
                <a:latin typeface="Arial"/>
              </a:rPr>
              <a:t>This is the only round with real time pressure. Draft scores post for everyone at once, after Phase 5 is revealed at 6:00 PM.</a:t>
            </a:r>
          </a:p>
        </p:txBody>
      </p:sp>
      <p:sp>
        <p:nvSpPr>
          <p:cNvPr id="53" name="TextBox 52"/>
          <p:cNvSpPr txBox="1"/>
          <p:nvPr/>
        </p:nvSpPr>
        <p:spPr>
          <a:xfrm>
            <a:off x="6858000" y="1536192"/>
            <a:ext cx="4894783" cy="320040"/>
          </a:xfrm>
          <a:prstGeom prst="rect">
            <a:avLst/>
          </a:prstGeom>
          <a:noFill/>
        </p:spPr>
        <p:txBody>
          <a:bodyPr wrap="square" anchor="t" lIns="0" rIns="0" tIns="0" bIns="0">
            <a:noAutofit/>
          </a:bodyPr>
          <a:lstStyle/>
          <a:p>
            <a:pPr algn="l">
              <a:spcBef>
                <a:spcPts val="0"/>
              </a:spcBef>
              <a:spcAft>
                <a:spcPts val="0"/>
              </a:spcAft>
            </a:pPr>
            <a:r>
              <a:rPr sz="1200" b="1">
                <a:solidFill>
                  <a:srgbClr val="C9A227"/>
                </a:solidFill>
                <a:latin typeface="Courier New"/>
              </a:rPr>
              <a:t>DRAFT SCORE  —  MAX 65 RAW</a:t>
            </a:r>
          </a:p>
        </p:txBody>
      </p:sp>
      <p:sp>
        <p:nvSpPr>
          <p:cNvPr id="54" name="Rectangle 53"/>
          <p:cNvSpPr/>
          <p:nvPr/>
        </p:nvSpPr>
        <p:spPr>
          <a:xfrm>
            <a:off x="6903720" y="2011679"/>
            <a:ext cx="4894783" cy="1170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858000" y="1965960"/>
            <a:ext cx="4894783" cy="1170432"/>
          </a:xfrm>
          <a:prstGeom prst="rect">
            <a:avLst/>
          </a:prstGeom>
          <a:solidFill>
            <a:srgbClr val="000000"/>
          </a:solidFill>
          <a:ln w="31750">
            <a:solidFill>
              <a:srgbClr val="2ECC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086600" y="2112264"/>
            <a:ext cx="3431743" cy="896112"/>
          </a:xfrm>
          <a:prstGeom prst="rect">
            <a:avLst/>
          </a:prstGeom>
          <a:noFill/>
        </p:spPr>
        <p:txBody>
          <a:bodyPr wrap="square" anchor="t" lIns="0" rIns="0" tIns="0" bIns="0">
            <a:noAutofit/>
          </a:bodyPr>
          <a:lstStyle/>
          <a:p>
            <a:pPr algn="l">
              <a:lnSpc>
                <a:spcPct val="100000"/>
              </a:lnSpc>
              <a:spcBef>
                <a:spcPts val="0"/>
              </a:spcBef>
              <a:spcAft>
                <a:spcPts val="0"/>
              </a:spcAft>
            </a:pPr>
            <a:r>
              <a:rPr sz="1600" b="0">
                <a:solidFill>
                  <a:srgbClr val="F2F0EA"/>
                </a:solidFill>
                <a:latin typeface="Impact"/>
              </a:rPr>
              <a:t>SURVIVED</a:t>
            </a:r>
          </a:p>
        </p:txBody>
      </p:sp>
      <p:sp>
        <p:nvSpPr>
          <p:cNvPr id="57" name="TextBox 56"/>
          <p:cNvSpPr txBox="1"/>
          <p:nvPr/>
        </p:nvSpPr>
        <p:spPr>
          <a:xfrm>
            <a:off x="10472623" y="1965960"/>
            <a:ext cx="1097280" cy="1170432"/>
          </a:xfrm>
          <a:prstGeom prst="rect">
            <a:avLst/>
          </a:prstGeom>
          <a:noFill/>
        </p:spPr>
        <p:txBody>
          <a:bodyPr wrap="square" anchor="ctr" lIns="0" rIns="0" tIns="0" bIns="0">
            <a:noAutofit/>
          </a:bodyPr>
          <a:lstStyle/>
          <a:p>
            <a:pPr algn="r">
              <a:spcBef>
                <a:spcPts val="0"/>
              </a:spcBef>
              <a:spcAft>
                <a:spcPts val="0"/>
              </a:spcAft>
            </a:pPr>
            <a:r>
              <a:rPr sz="2600" b="1">
                <a:solidFill>
                  <a:srgbClr val="2ECC71"/>
                </a:solidFill>
                <a:latin typeface="Courier New"/>
              </a:rPr>
              <a:t>+30</a:t>
            </a:r>
          </a:p>
        </p:txBody>
      </p:sp>
      <p:sp>
        <p:nvSpPr>
          <p:cNvPr id="58" name="Rectangle 57"/>
          <p:cNvSpPr/>
          <p:nvPr/>
        </p:nvSpPr>
        <p:spPr>
          <a:xfrm>
            <a:off x="6903720" y="3328415"/>
            <a:ext cx="4894783" cy="1170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858000" y="3282696"/>
            <a:ext cx="4894783" cy="1170432"/>
          </a:xfrm>
          <a:prstGeom prst="rect">
            <a:avLst/>
          </a:prstGeom>
          <a:solidFill>
            <a:srgbClr val="000000"/>
          </a:solidFill>
          <a:ln w="31750">
            <a:solidFill>
              <a:srgbClr val="E2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086600" y="3429000"/>
            <a:ext cx="3431743" cy="896112"/>
          </a:xfrm>
          <a:prstGeom prst="rect">
            <a:avLst/>
          </a:prstGeom>
          <a:noFill/>
        </p:spPr>
        <p:txBody>
          <a:bodyPr wrap="square" anchor="t" lIns="0" rIns="0" tIns="0" bIns="0">
            <a:noAutofit/>
          </a:bodyPr>
          <a:lstStyle/>
          <a:p>
            <a:pPr algn="l">
              <a:lnSpc>
                <a:spcPct val="100000"/>
              </a:lnSpc>
              <a:spcBef>
                <a:spcPts val="0"/>
              </a:spcBef>
              <a:spcAft>
                <a:spcPts val="0"/>
              </a:spcAft>
            </a:pPr>
            <a:r>
              <a:rPr sz="1600" b="0">
                <a:solidFill>
                  <a:srgbClr val="F2F0EA"/>
                </a:solidFill>
                <a:latin typeface="Impact"/>
              </a:rPr>
              <a:t>TOP-THIRD SCREENTIME</a:t>
            </a:r>
          </a:p>
        </p:txBody>
      </p:sp>
      <p:sp>
        <p:nvSpPr>
          <p:cNvPr id="61" name="TextBox 60"/>
          <p:cNvSpPr txBox="1"/>
          <p:nvPr/>
        </p:nvSpPr>
        <p:spPr>
          <a:xfrm>
            <a:off x="10472623" y="3282696"/>
            <a:ext cx="1097280" cy="1170432"/>
          </a:xfrm>
          <a:prstGeom prst="rect">
            <a:avLst/>
          </a:prstGeom>
          <a:noFill/>
        </p:spPr>
        <p:txBody>
          <a:bodyPr wrap="square" anchor="ctr" lIns="0" rIns="0" tIns="0" bIns="0">
            <a:noAutofit/>
          </a:bodyPr>
          <a:lstStyle/>
          <a:p>
            <a:pPr algn="r">
              <a:spcBef>
                <a:spcPts val="0"/>
              </a:spcBef>
              <a:spcAft>
                <a:spcPts val="0"/>
              </a:spcAft>
            </a:pPr>
            <a:r>
              <a:rPr sz="2600" b="1">
                <a:solidFill>
                  <a:srgbClr val="E23636"/>
                </a:solidFill>
                <a:latin typeface="Courier New"/>
              </a:rPr>
              <a:t>+20</a:t>
            </a:r>
          </a:p>
        </p:txBody>
      </p:sp>
      <p:sp>
        <p:nvSpPr>
          <p:cNvPr id="62" name="Rectangle 61"/>
          <p:cNvSpPr/>
          <p:nvPr/>
        </p:nvSpPr>
        <p:spPr>
          <a:xfrm>
            <a:off x="6903720" y="4645151"/>
            <a:ext cx="4894783" cy="1170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858000" y="4599431"/>
            <a:ext cx="4894783" cy="1170432"/>
          </a:xfrm>
          <a:prstGeom prst="rect">
            <a:avLst/>
          </a:prstGeom>
          <a:solidFill>
            <a:srgbClr val="000000"/>
          </a:solidFill>
          <a:ln w="3175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086600" y="4745736"/>
            <a:ext cx="3431743" cy="896112"/>
          </a:xfrm>
          <a:prstGeom prst="rect">
            <a:avLst/>
          </a:prstGeom>
          <a:noFill/>
        </p:spPr>
        <p:txBody>
          <a:bodyPr wrap="square" anchor="t" lIns="0" rIns="0" tIns="0" bIns="0">
            <a:noAutofit/>
          </a:bodyPr>
          <a:lstStyle/>
          <a:p>
            <a:pPr algn="l">
              <a:lnSpc>
                <a:spcPct val="100000"/>
              </a:lnSpc>
              <a:spcBef>
                <a:spcPts val="0"/>
              </a:spcBef>
              <a:spcAft>
                <a:spcPts val="0"/>
              </a:spcAft>
            </a:pPr>
            <a:r>
              <a:rPr sz="1600" b="0">
                <a:solidFill>
                  <a:srgbClr val="F2F0EA"/>
                </a:solidFill>
                <a:latin typeface="Impact"/>
              </a:rPr>
              <a:t>TEAM-UP</a:t>
            </a:r>
          </a:p>
        </p:txBody>
      </p:sp>
      <p:sp>
        <p:nvSpPr>
          <p:cNvPr id="65" name="TextBox 64"/>
          <p:cNvSpPr txBox="1"/>
          <p:nvPr/>
        </p:nvSpPr>
        <p:spPr>
          <a:xfrm>
            <a:off x="10472623" y="4599431"/>
            <a:ext cx="1097280" cy="1170432"/>
          </a:xfrm>
          <a:prstGeom prst="rect">
            <a:avLst/>
          </a:prstGeom>
          <a:noFill/>
        </p:spPr>
        <p:txBody>
          <a:bodyPr wrap="square" anchor="ctr" lIns="0" rIns="0" tIns="0" bIns="0">
            <a:noAutofit/>
          </a:bodyPr>
          <a:lstStyle/>
          <a:p>
            <a:pPr algn="r">
              <a:spcBef>
                <a:spcPts val="0"/>
              </a:spcBef>
              <a:spcAft>
                <a:spcPts val="0"/>
              </a:spcAft>
            </a:pPr>
            <a:r>
              <a:rPr sz="2600" b="1">
                <a:solidFill>
                  <a:srgbClr val="C9A227"/>
                </a:solidFill>
                <a:latin typeface="Courier New"/>
              </a:rPr>
              <a:t>+15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0F12"/>
        </a:solidFill>
        <a:effectLst/>
      </p:bgPr>
    </p:bg>
    <p:spTree>
      <p:nvGrpSpPr>
        <p:cNvPr id="1" name=""/>
        <p:cNvGrpSpPr/>
        <p:nvPr/>
      </p:nvGrpSpPr>
      <p:grpSpPr/>
      <p:sp>
        <p:nvSpPr>
          <p:cNvPr id="2" name="Rectangle 1"/>
          <p:cNvSpPr/>
          <p:nvPr/>
        </p:nvSpPr>
        <p:spPr>
          <a:xfrm>
            <a:off x="0" y="0"/>
            <a:ext cx="82296" cy="6858000"/>
          </a:xfrm>
          <a:prstGeom prst="rect">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39677"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09494"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779312"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949129"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118946"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88763"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458580"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28397"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798214"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968032"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137849"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307666"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477483"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647300"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439677"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09494"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79312"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949129"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118946"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288763"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458580"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628397"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798214"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968032"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137849"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1307666"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1477483"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1647300"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439677"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609494"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779312"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49129"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118946"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288763"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458580"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628397"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798214"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968032"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1137849"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307666"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1477483"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647300"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2920" y="347472"/>
            <a:ext cx="7315200" cy="292608"/>
          </a:xfrm>
          <a:prstGeom prst="rect">
            <a:avLst/>
          </a:prstGeom>
          <a:noFill/>
        </p:spPr>
        <p:txBody>
          <a:bodyPr wrap="square" anchor="t" lIns="0" rIns="0" tIns="0" bIns="0">
            <a:noAutofit/>
          </a:bodyPr>
          <a:lstStyle/>
          <a:p>
            <a:pPr algn="l">
              <a:spcBef>
                <a:spcPts val="0"/>
              </a:spcBef>
              <a:spcAft>
                <a:spcPts val="0"/>
              </a:spcAft>
            </a:pPr>
            <a:r>
              <a:rPr sz="1300" b="1">
                <a:solidFill>
                  <a:srgbClr val="C9A227"/>
                </a:solidFill>
                <a:latin typeface="Courier New"/>
              </a:rPr>
              <a:t>07 / 11  --  ROUND 4 · REPORT · 20-30 MIN</a:t>
            </a:r>
          </a:p>
        </p:txBody>
      </p:sp>
      <p:sp>
        <p:nvSpPr>
          <p:cNvPr id="46" name="TextBox 45"/>
          <p:cNvSpPr txBox="1"/>
          <p:nvPr/>
        </p:nvSpPr>
        <p:spPr>
          <a:xfrm>
            <a:off x="502920" y="640080"/>
            <a:ext cx="11249863" cy="603504"/>
          </a:xfrm>
          <a:prstGeom prst="rect">
            <a:avLst/>
          </a:prstGeom>
          <a:noFill/>
        </p:spPr>
        <p:txBody>
          <a:bodyPr wrap="square" anchor="t" lIns="0" rIns="0" tIns="0" bIns="0">
            <a:noAutofit/>
          </a:bodyPr>
          <a:lstStyle/>
          <a:p>
            <a:pPr algn="l">
              <a:spcBef>
                <a:spcPts val="0"/>
              </a:spcBef>
              <a:spcAft>
                <a:spcPts val="0"/>
              </a:spcAft>
            </a:pPr>
            <a:r>
              <a:rPr sz="3400" b="0">
                <a:solidFill>
                  <a:srgbClr val="F2F0EA"/>
                </a:solidFill>
                <a:latin typeface="Impact"/>
              </a:rPr>
              <a:t>SHOW YOUR WORK</a:t>
            </a:r>
          </a:p>
        </p:txBody>
      </p:sp>
      <p:sp>
        <p:nvSpPr>
          <p:cNvPr id="47" name="Rectangle 46"/>
          <p:cNvSpPr/>
          <p:nvPr/>
        </p:nvSpPr>
        <p:spPr>
          <a:xfrm>
            <a:off x="502920" y="1298448"/>
            <a:ext cx="11249863" cy="38100"/>
          </a:xfrm>
          <a:prstGeom prst="rect">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02920" y="6547104"/>
            <a:ext cx="6400800" cy="256032"/>
          </a:xfrm>
          <a:prstGeom prst="rect">
            <a:avLst/>
          </a:prstGeom>
          <a:noFill/>
        </p:spPr>
        <p:txBody>
          <a:bodyPr wrap="square" anchor="t" lIns="0" rIns="0" tIns="0" bIns="0">
            <a:noAutofit/>
          </a:bodyPr>
          <a:lstStyle/>
          <a:p>
            <a:pPr algn="l">
              <a:spcBef>
                <a:spcPts val="0"/>
              </a:spcBef>
              <a:spcAft>
                <a:spcPts val="0"/>
              </a:spcAft>
            </a:pPr>
            <a:r>
              <a:rPr sz="850" b="0">
                <a:solidFill>
                  <a:srgbClr val="4A4E54"/>
                </a:solidFill>
                <a:latin typeface="Courier New"/>
              </a:rPr>
              <a:t>DOOMSDAY ALGORITHM  //  V-TAPP 2026  //  DATA SCIENCE CLUB, VIT-AP</a:t>
            </a:r>
          </a:p>
        </p:txBody>
      </p:sp>
      <p:sp>
        <p:nvSpPr>
          <p:cNvPr id="49" name="TextBox 48"/>
          <p:cNvSpPr txBox="1"/>
          <p:nvPr/>
        </p:nvSpPr>
        <p:spPr>
          <a:xfrm>
            <a:off x="502920" y="1554480"/>
            <a:ext cx="11249863" cy="1051560"/>
          </a:xfrm>
          <a:prstGeom prst="rect">
            <a:avLst/>
          </a:prstGeom>
          <a:noFill/>
        </p:spPr>
        <p:txBody>
          <a:bodyPr wrap="square" anchor="t" lIns="0" rIns="0" tIns="0" bIns="0">
            <a:noAutofit/>
          </a:bodyPr>
          <a:lstStyle/>
          <a:p>
            <a:pPr algn="l">
              <a:lnSpc>
                <a:spcPct val="122000"/>
              </a:lnSpc>
              <a:spcBef>
                <a:spcPts val="0"/>
              </a:spcBef>
              <a:spcAft>
                <a:spcPts val="0"/>
              </a:spcAft>
            </a:pPr>
            <a:r>
              <a:rPr sz="1350" b="0">
                <a:solidFill>
                  <a:srgbClr val="F2F0EA"/>
                </a:solidFill>
                <a:latin typeface="Arial"/>
              </a:rPr>
              <a:t>The page auto-fills your boldest Predict answers. For each, write 1–2 sentences citing the specific chart or number behind it, and name at least one trap you caught and how you handled it.</a:t>
            </a:r>
          </a:p>
        </p:txBody>
      </p:sp>
      <p:sp>
        <p:nvSpPr>
          <p:cNvPr id="50" name="TextBox 49"/>
          <p:cNvSpPr txBox="1"/>
          <p:nvPr/>
        </p:nvSpPr>
        <p:spPr>
          <a:xfrm>
            <a:off x="502920" y="2743200"/>
            <a:ext cx="11249863" cy="320040"/>
          </a:xfrm>
          <a:prstGeom prst="rect">
            <a:avLst/>
          </a:prstGeom>
          <a:noFill/>
        </p:spPr>
        <p:txBody>
          <a:bodyPr wrap="square" anchor="t" lIns="0" rIns="0" tIns="0" bIns="0">
            <a:noAutofit/>
          </a:bodyPr>
          <a:lstStyle/>
          <a:p>
            <a:pPr algn="l">
              <a:spcBef>
                <a:spcPts val="0"/>
              </a:spcBef>
              <a:spcAft>
                <a:spcPts val="0"/>
              </a:spcAft>
            </a:pPr>
            <a:r>
              <a:rPr sz="1200" b="1">
                <a:solidFill>
                  <a:srgbClr val="C9A227"/>
                </a:solidFill>
                <a:latin typeface="Courier New"/>
              </a:rPr>
              <a:t>JUDGED BY CHECKLIST — 25 PTS EACH, 100 TOTAL</a:t>
            </a:r>
          </a:p>
        </p:txBody>
      </p:sp>
      <p:sp>
        <p:nvSpPr>
          <p:cNvPr id="51" name="Rectangle 50"/>
          <p:cNvSpPr/>
          <p:nvPr/>
        </p:nvSpPr>
        <p:spPr>
          <a:xfrm>
            <a:off x="557784" y="3182112"/>
            <a:ext cx="2675305" cy="28803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02920" y="3127248"/>
            <a:ext cx="2675305" cy="2880360"/>
          </a:xfrm>
          <a:prstGeom prst="rect">
            <a:avLst/>
          </a:prstGeom>
          <a:solidFill>
            <a:srgbClr val="000000"/>
          </a:solidFill>
          <a:ln w="31750">
            <a:solidFill>
              <a:srgbClr val="E2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9224" y="3291840"/>
            <a:ext cx="2382697" cy="548640"/>
          </a:xfrm>
          <a:prstGeom prst="rect">
            <a:avLst/>
          </a:prstGeom>
          <a:noFill/>
        </p:spPr>
        <p:txBody>
          <a:bodyPr wrap="square" anchor="t" lIns="0" rIns="0" tIns="0" bIns="0">
            <a:noAutofit/>
          </a:bodyPr>
          <a:lstStyle/>
          <a:p>
            <a:pPr algn="l">
              <a:spcBef>
                <a:spcPts val="0"/>
              </a:spcBef>
              <a:spcAft>
                <a:spcPts val="0"/>
              </a:spcAft>
            </a:pPr>
            <a:r>
              <a:rPr sz="2400" b="1">
                <a:solidFill>
                  <a:srgbClr val="E23636"/>
                </a:solidFill>
                <a:latin typeface="Courier New"/>
              </a:rPr>
              <a:t>25</a:t>
            </a:r>
          </a:p>
        </p:txBody>
      </p:sp>
      <p:sp>
        <p:nvSpPr>
          <p:cNvPr id="54" name="TextBox 53"/>
          <p:cNvSpPr txBox="1"/>
          <p:nvPr/>
        </p:nvSpPr>
        <p:spPr>
          <a:xfrm>
            <a:off x="649224" y="3886200"/>
            <a:ext cx="2382697" cy="777240"/>
          </a:xfrm>
          <a:prstGeom prst="rect">
            <a:avLst/>
          </a:prstGeom>
          <a:noFill/>
        </p:spPr>
        <p:txBody>
          <a:bodyPr wrap="square" anchor="t" lIns="0" rIns="0" tIns="0" bIns="0">
            <a:noAutofit/>
          </a:bodyPr>
          <a:lstStyle/>
          <a:p>
            <a:pPr algn="l">
              <a:lnSpc>
                <a:spcPct val="100000"/>
              </a:lnSpc>
              <a:spcBef>
                <a:spcPts val="0"/>
              </a:spcBef>
              <a:spcAft>
                <a:spcPts val="0"/>
              </a:spcAft>
            </a:pPr>
            <a:r>
              <a:rPr sz="1500" b="0">
                <a:solidFill>
                  <a:srgbClr val="F2F0EA"/>
                </a:solidFill>
                <a:latin typeface="Impact"/>
              </a:rPr>
              <a:t>DATA SOPHISTICATION</a:t>
            </a:r>
          </a:p>
        </p:txBody>
      </p:sp>
      <p:sp>
        <p:nvSpPr>
          <p:cNvPr id="55" name="TextBox 54"/>
          <p:cNvSpPr txBox="1"/>
          <p:nvPr/>
        </p:nvSpPr>
        <p:spPr>
          <a:xfrm>
            <a:off x="649224" y="4709160"/>
            <a:ext cx="2382697" cy="1188720"/>
          </a:xfrm>
          <a:prstGeom prst="rect">
            <a:avLst/>
          </a:prstGeom>
          <a:noFill/>
        </p:spPr>
        <p:txBody>
          <a:bodyPr wrap="square" anchor="t" lIns="0" rIns="0" tIns="0" bIns="0">
            <a:noAutofit/>
          </a:bodyPr>
          <a:lstStyle/>
          <a:p>
            <a:pPr algn="l">
              <a:lnSpc>
                <a:spcPct val="118000"/>
              </a:lnSpc>
              <a:spcBef>
                <a:spcPts val="0"/>
              </a:spcBef>
              <a:spcAft>
                <a:spcPts val="0"/>
              </a:spcAft>
            </a:pPr>
            <a:r>
              <a:rPr sz="1050" b="0">
                <a:solidFill>
                  <a:srgbClr val="F2F0EA"/>
                </a:solidFill>
                <a:latin typeface="Arial"/>
              </a:rPr>
              <a:t>Multiple tables combined, a real statistic used</a:t>
            </a:r>
          </a:p>
        </p:txBody>
      </p:sp>
      <p:sp>
        <p:nvSpPr>
          <p:cNvPr id="56" name="Rectangle 55"/>
          <p:cNvSpPr/>
          <p:nvPr/>
        </p:nvSpPr>
        <p:spPr>
          <a:xfrm>
            <a:off x="3415969" y="3182112"/>
            <a:ext cx="2675305" cy="28803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3361105" y="3127248"/>
            <a:ext cx="2675305" cy="2880360"/>
          </a:xfrm>
          <a:prstGeom prst="rect">
            <a:avLst/>
          </a:prstGeom>
          <a:solidFill>
            <a:srgbClr val="000000"/>
          </a:solidFill>
          <a:ln w="31750">
            <a:solidFill>
              <a:srgbClr val="2ECC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507409" y="3291840"/>
            <a:ext cx="2382697" cy="548640"/>
          </a:xfrm>
          <a:prstGeom prst="rect">
            <a:avLst/>
          </a:prstGeom>
          <a:noFill/>
        </p:spPr>
        <p:txBody>
          <a:bodyPr wrap="square" anchor="t" lIns="0" rIns="0" tIns="0" bIns="0">
            <a:noAutofit/>
          </a:bodyPr>
          <a:lstStyle/>
          <a:p>
            <a:pPr algn="l">
              <a:spcBef>
                <a:spcPts val="0"/>
              </a:spcBef>
              <a:spcAft>
                <a:spcPts val="0"/>
              </a:spcAft>
            </a:pPr>
            <a:r>
              <a:rPr sz="2400" b="1">
                <a:solidFill>
                  <a:srgbClr val="2ECC71"/>
                </a:solidFill>
                <a:latin typeface="Courier New"/>
              </a:rPr>
              <a:t>25</a:t>
            </a:r>
          </a:p>
        </p:txBody>
      </p:sp>
      <p:sp>
        <p:nvSpPr>
          <p:cNvPr id="59" name="TextBox 58"/>
          <p:cNvSpPr txBox="1"/>
          <p:nvPr/>
        </p:nvSpPr>
        <p:spPr>
          <a:xfrm>
            <a:off x="3507409" y="3886200"/>
            <a:ext cx="2382697" cy="777240"/>
          </a:xfrm>
          <a:prstGeom prst="rect">
            <a:avLst/>
          </a:prstGeom>
          <a:noFill/>
        </p:spPr>
        <p:txBody>
          <a:bodyPr wrap="square" anchor="t" lIns="0" rIns="0" tIns="0" bIns="0">
            <a:noAutofit/>
          </a:bodyPr>
          <a:lstStyle/>
          <a:p>
            <a:pPr algn="l">
              <a:lnSpc>
                <a:spcPct val="100000"/>
              </a:lnSpc>
              <a:spcBef>
                <a:spcPts val="0"/>
              </a:spcBef>
              <a:spcAft>
                <a:spcPts val="0"/>
              </a:spcAft>
            </a:pPr>
            <a:r>
              <a:rPr sz="1500" b="0">
                <a:solidFill>
                  <a:srgbClr val="F2F0EA"/>
                </a:solidFill>
                <a:latin typeface="Impact"/>
              </a:rPr>
              <a:t>LOGIC &amp; EVIDENCE</a:t>
            </a:r>
          </a:p>
        </p:txBody>
      </p:sp>
      <p:sp>
        <p:nvSpPr>
          <p:cNvPr id="60" name="TextBox 59"/>
          <p:cNvSpPr txBox="1"/>
          <p:nvPr/>
        </p:nvSpPr>
        <p:spPr>
          <a:xfrm>
            <a:off x="3507409" y="4709160"/>
            <a:ext cx="2382697" cy="1188720"/>
          </a:xfrm>
          <a:prstGeom prst="rect">
            <a:avLst/>
          </a:prstGeom>
          <a:noFill/>
        </p:spPr>
        <p:txBody>
          <a:bodyPr wrap="square" anchor="t" lIns="0" rIns="0" tIns="0" bIns="0">
            <a:noAutofit/>
          </a:bodyPr>
          <a:lstStyle/>
          <a:p>
            <a:pPr algn="l">
              <a:lnSpc>
                <a:spcPct val="118000"/>
              </a:lnSpc>
              <a:spcBef>
                <a:spcPts val="0"/>
              </a:spcBef>
              <a:spcAft>
                <a:spcPts val="0"/>
              </a:spcAft>
            </a:pPr>
            <a:r>
              <a:rPr sz="1050" b="0">
                <a:solidFill>
                  <a:srgbClr val="F2F0EA"/>
                </a:solidFill>
                <a:latin typeface="Arial"/>
              </a:rPr>
              <a:t>Cites a chart/number, catches a planted trap</a:t>
            </a:r>
          </a:p>
        </p:txBody>
      </p:sp>
      <p:sp>
        <p:nvSpPr>
          <p:cNvPr id="61" name="Rectangle 60"/>
          <p:cNvSpPr/>
          <p:nvPr/>
        </p:nvSpPr>
        <p:spPr>
          <a:xfrm>
            <a:off x="6274155" y="3182112"/>
            <a:ext cx="2675305" cy="28803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219291" y="3127248"/>
            <a:ext cx="2675305" cy="2880360"/>
          </a:xfrm>
          <a:prstGeom prst="rect">
            <a:avLst/>
          </a:prstGeom>
          <a:solidFill>
            <a:srgbClr val="000000"/>
          </a:solidFill>
          <a:ln w="3175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365595" y="3291840"/>
            <a:ext cx="2382697" cy="548640"/>
          </a:xfrm>
          <a:prstGeom prst="rect">
            <a:avLst/>
          </a:prstGeom>
          <a:noFill/>
        </p:spPr>
        <p:txBody>
          <a:bodyPr wrap="square" anchor="t" lIns="0" rIns="0" tIns="0" bIns="0">
            <a:noAutofit/>
          </a:bodyPr>
          <a:lstStyle/>
          <a:p>
            <a:pPr algn="l">
              <a:spcBef>
                <a:spcPts val="0"/>
              </a:spcBef>
              <a:spcAft>
                <a:spcPts val="0"/>
              </a:spcAft>
            </a:pPr>
            <a:r>
              <a:rPr sz="2400" b="1">
                <a:solidFill>
                  <a:srgbClr val="C9A227"/>
                </a:solidFill>
                <a:latin typeface="Courier New"/>
              </a:rPr>
              <a:t>25</a:t>
            </a:r>
          </a:p>
        </p:txBody>
      </p:sp>
      <p:sp>
        <p:nvSpPr>
          <p:cNvPr id="64" name="TextBox 63"/>
          <p:cNvSpPr txBox="1"/>
          <p:nvPr/>
        </p:nvSpPr>
        <p:spPr>
          <a:xfrm>
            <a:off x="6365595" y="3886200"/>
            <a:ext cx="2382697" cy="777240"/>
          </a:xfrm>
          <a:prstGeom prst="rect">
            <a:avLst/>
          </a:prstGeom>
          <a:noFill/>
        </p:spPr>
        <p:txBody>
          <a:bodyPr wrap="square" anchor="t" lIns="0" rIns="0" tIns="0" bIns="0">
            <a:noAutofit/>
          </a:bodyPr>
          <a:lstStyle/>
          <a:p>
            <a:pPr algn="l">
              <a:lnSpc>
                <a:spcPct val="100000"/>
              </a:lnSpc>
              <a:spcBef>
                <a:spcPts val="0"/>
              </a:spcBef>
              <a:spcAft>
                <a:spcPts val="0"/>
              </a:spcAft>
            </a:pPr>
            <a:r>
              <a:rPr sz="1500" b="0">
                <a:solidFill>
                  <a:srgbClr val="F2F0EA"/>
                </a:solidFill>
                <a:latin typeface="Impact"/>
              </a:rPr>
              <a:t>VISUALIZATION</a:t>
            </a:r>
          </a:p>
        </p:txBody>
      </p:sp>
      <p:sp>
        <p:nvSpPr>
          <p:cNvPr id="65" name="TextBox 64"/>
          <p:cNvSpPr txBox="1"/>
          <p:nvPr/>
        </p:nvSpPr>
        <p:spPr>
          <a:xfrm>
            <a:off x="6365595" y="4709160"/>
            <a:ext cx="2382697" cy="1188720"/>
          </a:xfrm>
          <a:prstGeom prst="rect">
            <a:avLst/>
          </a:prstGeom>
          <a:noFill/>
        </p:spPr>
        <p:txBody>
          <a:bodyPr wrap="square" anchor="t" lIns="0" rIns="0" tIns="0" bIns="0">
            <a:noAutofit/>
          </a:bodyPr>
          <a:lstStyle/>
          <a:p>
            <a:pPr algn="l">
              <a:lnSpc>
                <a:spcPct val="118000"/>
              </a:lnSpc>
              <a:spcBef>
                <a:spcPts val="0"/>
              </a:spcBef>
              <a:spcAft>
                <a:spcPts val="0"/>
              </a:spcAft>
            </a:pPr>
            <a:r>
              <a:rPr sz="1050" b="0">
                <a:solidFill>
                  <a:srgbClr val="F2F0EA"/>
                </a:solidFill>
                <a:latin typeface="Arial"/>
              </a:rPr>
              <a:t>A readable chart that actually supports the claim</a:t>
            </a:r>
          </a:p>
        </p:txBody>
      </p:sp>
      <p:sp>
        <p:nvSpPr>
          <p:cNvPr id="66" name="Rectangle 65"/>
          <p:cNvSpPr/>
          <p:nvPr/>
        </p:nvSpPr>
        <p:spPr>
          <a:xfrm>
            <a:off x="9132341" y="3182112"/>
            <a:ext cx="2675305" cy="28803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9077477" y="3127248"/>
            <a:ext cx="2675305" cy="2880360"/>
          </a:xfrm>
          <a:prstGeom prst="rect">
            <a:avLst/>
          </a:prstGeom>
          <a:solidFill>
            <a:srgbClr val="000000"/>
          </a:solidFill>
          <a:ln w="31750">
            <a:solidFill>
              <a:srgbClr val="E2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223781" y="3291840"/>
            <a:ext cx="2382697" cy="548640"/>
          </a:xfrm>
          <a:prstGeom prst="rect">
            <a:avLst/>
          </a:prstGeom>
          <a:noFill/>
        </p:spPr>
        <p:txBody>
          <a:bodyPr wrap="square" anchor="t" lIns="0" rIns="0" tIns="0" bIns="0">
            <a:noAutofit/>
          </a:bodyPr>
          <a:lstStyle/>
          <a:p>
            <a:pPr algn="l">
              <a:spcBef>
                <a:spcPts val="0"/>
              </a:spcBef>
              <a:spcAft>
                <a:spcPts val="0"/>
              </a:spcAft>
            </a:pPr>
            <a:r>
              <a:rPr sz="2400" b="1">
                <a:solidFill>
                  <a:srgbClr val="E23636"/>
                </a:solidFill>
                <a:latin typeface="Courier New"/>
              </a:rPr>
              <a:t>25</a:t>
            </a:r>
          </a:p>
        </p:txBody>
      </p:sp>
      <p:sp>
        <p:nvSpPr>
          <p:cNvPr id="69" name="TextBox 68"/>
          <p:cNvSpPr txBox="1"/>
          <p:nvPr/>
        </p:nvSpPr>
        <p:spPr>
          <a:xfrm>
            <a:off x="9223781" y="3886200"/>
            <a:ext cx="2382697" cy="777240"/>
          </a:xfrm>
          <a:prstGeom prst="rect">
            <a:avLst/>
          </a:prstGeom>
          <a:noFill/>
        </p:spPr>
        <p:txBody>
          <a:bodyPr wrap="square" anchor="t" lIns="0" rIns="0" tIns="0" bIns="0">
            <a:noAutofit/>
          </a:bodyPr>
          <a:lstStyle/>
          <a:p>
            <a:pPr algn="l">
              <a:lnSpc>
                <a:spcPct val="100000"/>
              </a:lnSpc>
              <a:spcBef>
                <a:spcPts val="0"/>
              </a:spcBef>
              <a:spcAft>
                <a:spcPts val="0"/>
              </a:spcAft>
            </a:pPr>
            <a:r>
              <a:rPr sz="1500" b="0">
                <a:solidFill>
                  <a:srgbClr val="F2F0EA"/>
                </a:solidFill>
                <a:latin typeface="Impact"/>
              </a:rPr>
              <a:t>COMMUNICATION</a:t>
            </a:r>
          </a:p>
        </p:txBody>
      </p:sp>
      <p:sp>
        <p:nvSpPr>
          <p:cNvPr id="70" name="TextBox 69"/>
          <p:cNvSpPr txBox="1"/>
          <p:nvPr/>
        </p:nvSpPr>
        <p:spPr>
          <a:xfrm>
            <a:off x="9223781" y="4709160"/>
            <a:ext cx="2382697" cy="1188720"/>
          </a:xfrm>
          <a:prstGeom prst="rect">
            <a:avLst/>
          </a:prstGeom>
          <a:noFill/>
        </p:spPr>
        <p:txBody>
          <a:bodyPr wrap="square" anchor="t" lIns="0" rIns="0" tIns="0" bIns="0">
            <a:noAutofit/>
          </a:bodyPr>
          <a:lstStyle/>
          <a:p>
            <a:pPr algn="l">
              <a:lnSpc>
                <a:spcPct val="118000"/>
              </a:lnSpc>
              <a:spcBef>
                <a:spcPts val="0"/>
              </a:spcBef>
              <a:spcAft>
                <a:spcPts val="0"/>
              </a:spcAft>
            </a:pPr>
            <a:r>
              <a:rPr sz="1050" b="0">
                <a:solidFill>
                  <a:srgbClr val="F2F0EA"/>
                </a:solidFill>
                <a:latin typeface="Arial"/>
              </a:rPr>
              <a:t>Concise; states confidence and reasoning together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C0F12"/>
        </a:solidFill>
        <a:effectLst/>
      </p:bgPr>
    </p:bg>
    <p:spTree>
      <p:nvGrpSpPr>
        <p:cNvPr id="1" name=""/>
        <p:cNvGrpSpPr/>
        <p:nvPr/>
      </p:nvGrpSpPr>
      <p:grpSpPr/>
      <p:sp>
        <p:nvSpPr>
          <p:cNvPr id="2" name="Rectangle 1"/>
          <p:cNvSpPr/>
          <p:nvPr/>
        </p:nvSpPr>
        <p:spPr>
          <a:xfrm>
            <a:off x="0" y="0"/>
            <a:ext cx="82296" cy="6858000"/>
          </a:xfrm>
          <a:prstGeom prst="rect">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39677"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09494"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779312"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949129"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118946"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88763"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458580"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28397"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798214"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968032"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137849"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307666"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477483"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647300"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439677"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09494"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79312"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949129"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118946"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288763"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458580"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628397"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798214"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968032"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137849"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1307666"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1477483"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1647300"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439677"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609494"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779312"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49129"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118946"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288763"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458580"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628397"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798214"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968032"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1137849"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307666"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1477483"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647300"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2920" y="347472"/>
            <a:ext cx="7315200" cy="292608"/>
          </a:xfrm>
          <a:prstGeom prst="rect">
            <a:avLst/>
          </a:prstGeom>
          <a:noFill/>
        </p:spPr>
        <p:txBody>
          <a:bodyPr wrap="square" anchor="t" lIns="0" rIns="0" tIns="0" bIns="0">
            <a:noAutofit/>
          </a:bodyPr>
          <a:lstStyle/>
          <a:p>
            <a:pPr algn="l">
              <a:spcBef>
                <a:spcPts val="0"/>
              </a:spcBef>
              <a:spcAft>
                <a:spcPts val="0"/>
              </a:spcAft>
            </a:pPr>
            <a:r>
              <a:rPr sz="1300" b="1">
                <a:solidFill>
                  <a:srgbClr val="C9A227"/>
                </a:solidFill>
                <a:latin typeface="Courier New"/>
              </a:rPr>
              <a:t>08 / 11  --  SCORING SUMMARY</a:t>
            </a:r>
          </a:p>
        </p:txBody>
      </p:sp>
      <p:sp>
        <p:nvSpPr>
          <p:cNvPr id="46" name="TextBox 45"/>
          <p:cNvSpPr txBox="1"/>
          <p:nvPr/>
        </p:nvSpPr>
        <p:spPr>
          <a:xfrm>
            <a:off x="502920" y="640080"/>
            <a:ext cx="11249863" cy="603504"/>
          </a:xfrm>
          <a:prstGeom prst="rect">
            <a:avLst/>
          </a:prstGeom>
          <a:noFill/>
        </p:spPr>
        <p:txBody>
          <a:bodyPr wrap="square" anchor="t" lIns="0" rIns="0" tIns="0" bIns="0">
            <a:noAutofit/>
          </a:bodyPr>
          <a:lstStyle/>
          <a:p>
            <a:pPr algn="l">
              <a:spcBef>
                <a:spcPts val="0"/>
              </a:spcBef>
              <a:spcAft>
                <a:spcPts val="0"/>
              </a:spcAft>
            </a:pPr>
            <a:r>
              <a:rPr sz="3400" b="0">
                <a:solidFill>
                  <a:srgbClr val="F2F0EA"/>
                </a:solidFill>
                <a:latin typeface="Impact"/>
              </a:rPr>
              <a:t>THE FINAL FORMULA</a:t>
            </a:r>
          </a:p>
        </p:txBody>
      </p:sp>
      <p:sp>
        <p:nvSpPr>
          <p:cNvPr id="47" name="Rectangle 46"/>
          <p:cNvSpPr/>
          <p:nvPr/>
        </p:nvSpPr>
        <p:spPr>
          <a:xfrm>
            <a:off x="502920" y="1298448"/>
            <a:ext cx="11249863" cy="38100"/>
          </a:xfrm>
          <a:prstGeom prst="rect">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02920" y="6547104"/>
            <a:ext cx="6400800" cy="256032"/>
          </a:xfrm>
          <a:prstGeom prst="rect">
            <a:avLst/>
          </a:prstGeom>
          <a:noFill/>
        </p:spPr>
        <p:txBody>
          <a:bodyPr wrap="square" anchor="t" lIns="0" rIns="0" tIns="0" bIns="0">
            <a:noAutofit/>
          </a:bodyPr>
          <a:lstStyle/>
          <a:p>
            <a:pPr algn="l">
              <a:spcBef>
                <a:spcPts val="0"/>
              </a:spcBef>
              <a:spcAft>
                <a:spcPts val="0"/>
              </a:spcAft>
            </a:pPr>
            <a:r>
              <a:rPr sz="850" b="0">
                <a:solidFill>
                  <a:srgbClr val="4A4E54"/>
                </a:solidFill>
                <a:latin typeface="Courier New"/>
              </a:rPr>
              <a:t>DOOMSDAY ALGORITHM  //  V-TAPP 2026  //  DATA SCIENCE CLUB, VIT-AP</a:t>
            </a:r>
          </a:p>
        </p:txBody>
      </p:sp>
      <p:sp>
        <p:nvSpPr>
          <p:cNvPr id="49" name="Rectangle 48"/>
          <p:cNvSpPr/>
          <p:nvPr/>
        </p:nvSpPr>
        <p:spPr>
          <a:xfrm>
            <a:off x="566928" y="1664208"/>
            <a:ext cx="11249863" cy="12344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02920" y="1600200"/>
            <a:ext cx="11249863" cy="1234440"/>
          </a:xfrm>
          <a:prstGeom prst="rect">
            <a:avLst/>
          </a:prstGeom>
          <a:solidFill>
            <a:srgbClr val="000000"/>
          </a:solidFill>
          <a:ln w="38100">
            <a:solidFill>
              <a:srgbClr val="E2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02920" y="1600200"/>
            <a:ext cx="11249863" cy="1234440"/>
          </a:xfrm>
          <a:prstGeom prst="rect">
            <a:avLst/>
          </a:prstGeom>
          <a:noFill/>
        </p:spPr>
        <p:txBody>
          <a:bodyPr wrap="square" anchor="ctr" lIns="0" rIns="0" tIns="0" bIns="0">
            <a:noAutofit/>
          </a:bodyPr>
          <a:lstStyle/>
          <a:p>
            <a:pPr algn="ctr"/>
            <a:r>
              <a:rPr sz="2400" b="1">
                <a:solidFill>
                  <a:srgbClr val="F2F0EA"/>
                </a:solidFill>
                <a:effectLst>
                  <a:glow rad="54864">
                    <a:srgbClr val="FF6B6B">
                      <a:alpha val="62000"/>
                    </a:srgbClr>
                  </a:glow>
                </a:effectLst>
                <a:latin typeface="Courier New"/>
              </a:rPr>
              <a:t>TOTAL = 0.5×ANALYSIS + 0.2×DRAFT + 0.3×REPORT</a:t>
            </a:r>
          </a:p>
        </p:txBody>
      </p:sp>
      <p:sp>
        <p:nvSpPr>
          <p:cNvPr id="52" name="TextBox 51"/>
          <p:cNvSpPr txBox="1"/>
          <p:nvPr/>
        </p:nvSpPr>
        <p:spPr>
          <a:xfrm>
            <a:off x="502920" y="3154680"/>
            <a:ext cx="6035040" cy="2834640"/>
          </a:xfrm>
          <a:prstGeom prst="rect">
            <a:avLst/>
          </a:prstGeom>
          <a:noFill/>
        </p:spPr>
        <p:txBody>
          <a:bodyPr wrap="square" anchor="t" lIns="0" rIns="0" tIns="0" bIns="0">
            <a:noAutofit/>
          </a:bodyPr>
          <a:lstStyle/>
          <a:p>
            <a:pPr algn="l">
              <a:spcBef>
                <a:spcPts val="0"/>
              </a:spcBef>
              <a:spcAft>
                <a:spcPts val="400"/>
              </a:spcAft>
            </a:pPr>
            <a:r>
              <a:rPr sz="1200" b="1">
                <a:solidFill>
                  <a:srgbClr val="C9A227"/>
                </a:solidFill>
                <a:latin typeface="Courier New"/>
              </a:rPr>
              <a:t>ANALYSIS (50%)</a:t>
            </a:r>
          </a:p>
          <a:p>
            <a:pPr algn="l">
              <a:lnSpc>
                <a:spcPct val="120000"/>
              </a:lnSpc>
              <a:spcBef>
                <a:spcPts val="0"/>
              </a:spcBef>
              <a:spcAft>
                <a:spcPts val="1400"/>
              </a:spcAft>
            </a:pPr>
            <a:r>
              <a:rPr sz="1250" b="0">
                <a:solidFill>
                  <a:srgbClr val="F2F0EA"/>
                </a:solidFill>
                <a:latin typeface="Arial"/>
              </a:rPr>
              <a:t>Explore + Predict share one bucket: sum of all 34 Brier scores ÷ 34.</a:t>
            </a:r>
          </a:p>
          <a:p>
            <a:pPr algn="l">
              <a:spcBef>
                <a:spcPts val="0"/>
              </a:spcBef>
              <a:spcAft>
                <a:spcPts val="400"/>
              </a:spcAft>
            </a:pPr>
            <a:r>
              <a:rPr sz="1200" b="1">
                <a:solidFill>
                  <a:srgbClr val="C9A227"/>
                </a:solidFill>
                <a:latin typeface="Courier New"/>
              </a:rPr>
              <a:t>DRAFT (20%)</a:t>
            </a:r>
          </a:p>
          <a:p>
            <a:pPr algn="l">
              <a:lnSpc>
                <a:spcPct val="120000"/>
              </a:lnSpc>
              <a:spcBef>
                <a:spcPts val="0"/>
              </a:spcBef>
              <a:spcAft>
                <a:spcPts val="1400"/>
              </a:spcAft>
            </a:pPr>
            <a:r>
              <a:rPr sz="1250" b="0">
                <a:solidFill>
                  <a:srgbClr val="F2F0EA"/>
                </a:solidFill>
                <a:latin typeface="Arial"/>
              </a:rPr>
              <a:t>(survived +30, top-third screentime +20, team-up +15) ÷ 65, capped at 100.</a:t>
            </a:r>
          </a:p>
          <a:p>
            <a:pPr algn="l">
              <a:spcBef>
                <a:spcPts val="0"/>
              </a:spcBef>
              <a:spcAft>
                <a:spcPts val="400"/>
              </a:spcAft>
            </a:pPr>
            <a:r>
              <a:rPr sz="1200" b="1">
                <a:solidFill>
                  <a:srgbClr val="C9A227"/>
                </a:solidFill>
                <a:latin typeface="Courier New"/>
              </a:rPr>
              <a:t>TIE-BREAK</a:t>
            </a:r>
          </a:p>
          <a:p>
            <a:pPr algn="l">
              <a:lnSpc>
                <a:spcPct val="120000"/>
              </a:lnSpc>
              <a:spcBef>
                <a:spcPts val="0"/>
              </a:spcBef>
              <a:spcAft>
                <a:spcPts val="0"/>
              </a:spcAft>
            </a:pPr>
            <a:r>
              <a:rPr sz="1250" b="0">
                <a:solidFill>
                  <a:srgbClr val="F2F0EA"/>
                </a:solidFill>
                <a:latin typeface="Arial"/>
              </a:rPr>
              <a:t>Higher raw Analysis score, then earlier submission timestamp.</a:t>
            </a:r>
          </a:p>
        </p:txBody>
      </p:sp>
      <p:sp>
        <p:nvSpPr>
          <p:cNvPr id="53" name="Rectangle 52"/>
          <p:cNvSpPr/>
          <p:nvPr/>
        </p:nvSpPr>
        <p:spPr>
          <a:xfrm>
            <a:off x="6912863" y="3209544"/>
            <a:ext cx="4894783" cy="28346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857999" y="3154680"/>
            <a:ext cx="4894783" cy="2834640"/>
          </a:xfrm>
          <a:prstGeom prst="rect">
            <a:avLst/>
          </a:prstGeom>
          <a:solidFill>
            <a:srgbClr val="0C0F12"/>
          </a:solidFill>
          <a:ln w="31750">
            <a:solidFill>
              <a:srgbClr val="2ECC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086599" y="3337560"/>
            <a:ext cx="4437583" cy="2514600"/>
          </a:xfrm>
          <a:prstGeom prst="rect">
            <a:avLst/>
          </a:prstGeom>
          <a:noFill/>
        </p:spPr>
        <p:txBody>
          <a:bodyPr wrap="square" anchor="t" lIns="0" rIns="0" tIns="0" bIns="0">
            <a:noAutofit/>
          </a:bodyPr>
          <a:lstStyle/>
          <a:p>
            <a:pPr algn="l">
              <a:spcBef>
                <a:spcPts val="0"/>
              </a:spcBef>
              <a:spcAft>
                <a:spcPts val="1000"/>
              </a:spcAft>
            </a:pPr>
            <a:r>
              <a:rPr sz="1700" b="0">
                <a:solidFill>
                  <a:srgbClr val="58D68D"/>
                </a:solidFill>
                <a:latin typeface="Impact"/>
              </a:rPr>
              <a:t>WHY SCORES ARE HIDDEN</a:t>
            </a:r>
          </a:p>
          <a:p>
            <a:pPr algn="l">
              <a:lnSpc>
                <a:spcPct val="120000"/>
              </a:lnSpc>
              <a:spcBef>
                <a:spcPts val="0"/>
              </a:spcBef>
              <a:spcAft>
                <a:spcPts val="1000"/>
              </a:spcAft>
            </a:pPr>
            <a:r>
              <a:rPr sz="1200" b="0">
                <a:solidFill>
                  <a:srgbClr val="F2F0EA"/>
                </a:solidFill>
                <a:latin typeface="Arial"/>
              </a:rPr>
              <a:t>The leaderboard shows rank and total only — never a per-round breakdown.</a:t>
            </a:r>
          </a:p>
          <a:p>
            <a:pPr algn="l">
              <a:lnSpc>
                <a:spcPct val="120000"/>
              </a:lnSpc>
              <a:spcBef>
                <a:spcPts val="0"/>
              </a:spcBef>
              <a:spcAft>
                <a:spcPts val="0"/>
              </a:spcAft>
            </a:pPr>
            <a:r>
              <a:rPr sz="1200" b="0">
                <a:solidFill>
                  <a:srgbClr val="F2F0EA"/>
                </a:solidFill>
                <a:latin typeface="Arial"/>
              </a:rPr>
              <a:t>A visible raw Predict score would let a team submit on a throwaway ID, read the score back, and extract the answer key one question at a time.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C0F12"/>
        </a:solidFill>
        <a:effectLst/>
      </p:bgPr>
    </p:bg>
    <p:spTree>
      <p:nvGrpSpPr>
        <p:cNvPr id="1" name=""/>
        <p:cNvGrpSpPr/>
        <p:nvPr/>
      </p:nvGrpSpPr>
      <p:grpSpPr/>
      <p:sp>
        <p:nvSpPr>
          <p:cNvPr id="2" name="Rectangle 1"/>
          <p:cNvSpPr/>
          <p:nvPr/>
        </p:nvSpPr>
        <p:spPr>
          <a:xfrm>
            <a:off x="0" y="0"/>
            <a:ext cx="82296" cy="6858000"/>
          </a:xfrm>
          <a:prstGeom prst="rect">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39677"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09494"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779312"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949129"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118946"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88763"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458580"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28397"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798214"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968032"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137849"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307666"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477483"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647300" y="3116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439677"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09494"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79312"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949129"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118946"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288763"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458580"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628397"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798214"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968032"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137849"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1307666"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1477483"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1647300" y="4640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439677"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609494"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779312"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49129"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118946"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288763"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458580"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628397"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798214"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968032"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1137849"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307666"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1477483"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647300" y="616458"/>
            <a:ext cx="41148" cy="41148"/>
          </a:xfrm>
          <a:prstGeom prst="ellipse">
            <a:avLst/>
          </a:prstGeom>
          <a:solidFill>
            <a:srgbClr val="4A4E5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2920" y="347472"/>
            <a:ext cx="7315200" cy="292608"/>
          </a:xfrm>
          <a:prstGeom prst="rect">
            <a:avLst/>
          </a:prstGeom>
          <a:noFill/>
        </p:spPr>
        <p:txBody>
          <a:bodyPr wrap="square" anchor="t" lIns="0" rIns="0" tIns="0" bIns="0">
            <a:noAutofit/>
          </a:bodyPr>
          <a:lstStyle/>
          <a:p>
            <a:pPr algn="l">
              <a:spcBef>
                <a:spcPts val="0"/>
              </a:spcBef>
              <a:spcAft>
                <a:spcPts val="0"/>
              </a:spcAft>
            </a:pPr>
            <a:r>
              <a:rPr sz="1300" b="1">
                <a:solidFill>
                  <a:srgbClr val="C9A227"/>
                </a:solidFill>
                <a:latin typeface="Courier New"/>
              </a:rPr>
              <a:t>09 / 11  --  RULES &amp; LOGISTICS</a:t>
            </a:r>
          </a:p>
        </p:txBody>
      </p:sp>
      <p:sp>
        <p:nvSpPr>
          <p:cNvPr id="46" name="TextBox 45"/>
          <p:cNvSpPr txBox="1"/>
          <p:nvPr/>
        </p:nvSpPr>
        <p:spPr>
          <a:xfrm>
            <a:off x="502920" y="640080"/>
            <a:ext cx="11249863" cy="603504"/>
          </a:xfrm>
          <a:prstGeom prst="rect">
            <a:avLst/>
          </a:prstGeom>
          <a:noFill/>
        </p:spPr>
        <p:txBody>
          <a:bodyPr wrap="square" anchor="t" lIns="0" rIns="0" tIns="0" bIns="0">
            <a:noAutofit/>
          </a:bodyPr>
          <a:lstStyle/>
          <a:p>
            <a:pPr algn="l">
              <a:spcBef>
                <a:spcPts val="0"/>
              </a:spcBef>
              <a:spcAft>
                <a:spcPts val="0"/>
              </a:spcAft>
            </a:pPr>
            <a:r>
              <a:rPr sz="3400" b="0">
                <a:solidFill>
                  <a:srgbClr val="F2F0EA"/>
                </a:solidFill>
                <a:latin typeface="Impact"/>
              </a:rPr>
              <a:t>HOW THE DAY RUNS</a:t>
            </a:r>
          </a:p>
        </p:txBody>
      </p:sp>
      <p:sp>
        <p:nvSpPr>
          <p:cNvPr id="47" name="Rectangle 46"/>
          <p:cNvSpPr/>
          <p:nvPr/>
        </p:nvSpPr>
        <p:spPr>
          <a:xfrm>
            <a:off x="502920" y="1298448"/>
            <a:ext cx="11249863" cy="38100"/>
          </a:xfrm>
          <a:prstGeom prst="rect">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02920" y="6547104"/>
            <a:ext cx="6400800" cy="256032"/>
          </a:xfrm>
          <a:prstGeom prst="rect">
            <a:avLst/>
          </a:prstGeom>
          <a:noFill/>
        </p:spPr>
        <p:txBody>
          <a:bodyPr wrap="square" anchor="t" lIns="0" rIns="0" tIns="0" bIns="0">
            <a:noAutofit/>
          </a:bodyPr>
          <a:lstStyle/>
          <a:p>
            <a:pPr algn="l">
              <a:spcBef>
                <a:spcPts val="0"/>
              </a:spcBef>
              <a:spcAft>
                <a:spcPts val="0"/>
              </a:spcAft>
            </a:pPr>
            <a:r>
              <a:rPr sz="850" b="0">
                <a:solidFill>
                  <a:srgbClr val="4A4E54"/>
                </a:solidFill>
                <a:latin typeface="Courier New"/>
              </a:rPr>
              <a:t>DOOMSDAY ALGORITHM  //  V-TAPP 2026  //  DATA SCIENCE CLUB, VIT-AP</a:t>
            </a:r>
          </a:p>
        </p:txBody>
      </p:sp>
      <p:sp>
        <p:nvSpPr>
          <p:cNvPr id="49" name="TextBox 48"/>
          <p:cNvSpPr txBox="1"/>
          <p:nvPr/>
        </p:nvSpPr>
        <p:spPr>
          <a:xfrm>
            <a:off x="502920" y="1691640"/>
            <a:ext cx="11066983" cy="3017520"/>
          </a:xfrm>
          <a:prstGeom prst="rect">
            <a:avLst/>
          </a:prstGeom>
          <a:noFill/>
        </p:spPr>
        <p:txBody>
          <a:bodyPr wrap="square" anchor="t" lIns="0" rIns="0" tIns="0" bIns="0">
            <a:noAutofit/>
          </a:bodyPr>
          <a:lstStyle/>
          <a:p>
            <a:pPr algn="l">
              <a:lnSpc>
                <a:spcPct val="118000"/>
              </a:lnSpc>
              <a:spcAft>
                <a:spcPts val="1400"/>
              </a:spcAft>
            </a:pPr>
            <a:r>
              <a:rPr sz="1500" b="1">
                <a:solidFill>
                  <a:srgbClr val="E23636"/>
                </a:solidFill>
                <a:latin typeface="Courier New"/>
              </a:rPr>
              <a:t>—  </a:t>
            </a:r>
            <a:r>
              <a:rPr sz="1500">
                <a:solidFill>
                  <a:srgbClr val="F2F0EA"/>
                </a:solidFill>
                <a:latin typeface="Arial"/>
              </a:rPr>
              <a:t>Team IDs are assigned at check-in — don’t use anyone else’s.</a:t>
            </a:r>
          </a:p>
          <a:p>
            <a:pPr algn="l">
              <a:lnSpc>
                <a:spcPct val="118000"/>
              </a:lnSpc>
              <a:spcAft>
                <a:spcPts val="1400"/>
              </a:spcAft>
            </a:pPr>
            <a:r>
              <a:rPr sz="1500" b="1">
                <a:solidFill>
                  <a:srgbClr val="E23636"/>
                </a:solidFill>
                <a:latin typeface="Courier New"/>
              </a:rPr>
              <a:t>—  </a:t>
            </a:r>
            <a:r>
              <a:rPr sz="1500">
                <a:solidFill>
                  <a:srgbClr val="F2F0EA"/>
                </a:solidFill>
                <a:latin typeface="Arial"/>
              </a:rPr>
              <a:t>No live host. The site carries the entire briefing, round by round.</a:t>
            </a:r>
          </a:p>
          <a:p>
            <a:pPr algn="l">
              <a:lnSpc>
                <a:spcPct val="118000"/>
              </a:lnSpc>
              <a:spcAft>
                <a:spcPts val="1400"/>
              </a:spcAft>
            </a:pPr>
            <a:r>
              <a:rPr sz="1500" b="1">
                <a:solidFill>
                  <a:srgbClr val="E23636"/>
                </a:solidFill>
                <a:latin typeface="Courier New"/>
              </a:rPr>
              <a:t>—  </a:t>
            </a:r>
            <a:r>
              <a:rPr sz="1500">
                <a:solidFill>
                  <a:srgbClr val="F2F0EA"/>
                </a:solidFill>
                <a:latin typeface="Arial"/>
              </a:rPr>
              <a:t>A live leaderboard runs on the projector — rank and total only.</a:t>
            </a:r>
          </a:p>
          <a:p>
            <a:pPr algn="l">
              <a:lnSpc>
                <a:spcPct val="118000"/>
              </a:lnSpc>
              <a:spcAft>
                <a:spcPts val="1400"/>
              </a:spcAft>
            </a:pPr>
            <a:r>
              <a:rPr sz="1500" b="1">
                <a:solidFill>
                  <a:srgbClr val="E23636"/>
                </a:solidFill>
                <a:latin typeface="Courier New"/>
              </a:rPr>
              <a:t>—  </a:t>
            </a:r>
            <a:r>
              <a:rPr sz="1500">
                <a:solidFill>
                  <a:srgbClr val="F2F0EA"/>
                </a:solidFill>
                <a:latin typeface="Arial"/>
              </a:rPr>
              <a:t>At 6:00 PM: Phase 5 is revealed, draft scores post within seconds, and winners are announced on the spot.</a:t>
            </a:r>
          </a:p>
        </p:txBody>
      </p:sp>
      <p:sp>
        <p:nvSpPr>
          <p:cNvPr id="50" name="Rectangle 49"/>
          <p:cNvSpPr/>
          <p:nvPr/>
        </p:nvSpPr>
        <p:spPr>
          <a:xfrm>
            <a:off x="557784" y="4946903"/>
            <a:ext cx="11249863" cy="10972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02920" y="4892040"/>
            <a:ext cx="11249863" cy="1097280"/>
          </a:xfrm>
          <a:prstGeom prst="rect">
            <a:avLst/>
          </a:prstGeom>
          <a:solidFill>
            <a:srgbClr val="000000"/>
          </a:solidFill>
          <a:ln w="3175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58952" y="5029200"/>
            <a:ext cx="10737799" cy="868680"/>
          </a:xfrm>
          <a:prstGeom prst="rect">
            <a:avLst/>
          </a:prstGeom>
          <a:noFill/>
        </p:spPr>
        <p:txBody>
          <a:bodyPr wrap="square" anchor="t" lIns="0" rIns="0" tIns="0" bIns="0">
            <a:noAutofit/>
          </a:bodyPr>
          <a:lstStyle/>
          <a:p>
            <a:pPr algn="l">
              <a:spcBef>
                <a:spcPts val="0"/>
              </a:spcBef>
              <a:spcAft>
                <a:spcPts val="400"/>
              </a:spcAft>
            </a:pPr>
            <a:r>
              <a:rPr sz="1150" b="1">
                <a:solidFill>
                  <a:srgbClr val="C9A227"/>
                </a:solidFill>
                <a:latin typeface="Courier New"/>
              </a:rPr>
              <a:t>LIVE LEADERBOARD</a:t>
            </a:r>
          </a:p>
          <a:p>
            <a:pPr algn="l">
              <a:spcBef>
                <a:spcPts val="0"/>
              </a:spcBef>
              <a:spcAft>
                <a:spcPts val="0"/>
              </a:spcAft>
            </a:pPr>
            <a:r>
              <a:rPr sz="1700" b="1">
                <a:solidFill>
                  <a:srgbClr val="F2F0EA"/>
                </a:solidFill>
                <a:latin typeface="Courier New"/>
              </a:rPr>
              <a:t>https://doomsdayalgorithm-5f1e8.web.app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C0F12"/>
        </a:solidFill>
        <a:effectLst/>
      </p:bgPr>
    </p:bg>
    <p:spTree>
      <p:nvGrpSpPr>
        <p:cNvPr id="1" name=""/>
        <p:cNvGrpSpPr/>
        <p:nvPr/>
      </p:nvGrpSpPr>
      <p:grpSpPr/>
      <p:sp>
        <p:nvSpPr>
          <p:cNvPr id="2" name="Rectangle 1"/>
          <p:cNvSpPr/>
          <p:nvPr/>
        </p:nvSpPr>
        <p:spPr>
          <a:xfrm>
            <a:off x="0" y="0"/>
            <a:ext cx="82296" cy="6858000"/>
          </a:xfrm>
          <a:prstGeom prst="rect">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5904"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2940"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269976"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457013"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644049"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831086"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18122"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205158"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392195"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579231"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766267"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953304"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140340"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327376"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514413"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701449"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888486"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075522"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262558"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449595"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636631"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823667" y="765810"/>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95904"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82940"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269976"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457013"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644049"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831086"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018122"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2205158"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392195"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579231"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766267"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953304"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140340"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327376"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514413"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701449"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888486"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075522"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262558"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449595"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636631"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4823667" y="966978"/>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95904"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82940"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269976"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457013"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644049"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831086"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2018122"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2205158"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2392195"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2579231"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2766267"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2953304"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3140340"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3327376"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3514413"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3701449"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3888486"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4075522"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4262558"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4449595"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4636631"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4823667" y="1168146"/>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895904"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1082940"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1269976"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1457013"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1644049"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1831086"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2018122"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2205158"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2392195"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2579231"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2766267"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2953304"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3140340"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3327376"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3514413"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3701449"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3888486"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4075522"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4262558"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4449595"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4636631"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4823667" y="1369314"/>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895904"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1082940"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1269976"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1457013"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1644049"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1831086"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2018122"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2205158"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2392195"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2579231"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2766267"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2953304"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3140340"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3327376"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3514413"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3701449"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3888486"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4075522"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4262558"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4449595"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4636631"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4823667" y="1570482"/>
            <a:ext cx="41148" cy="41148"/>
          </a:xfrm>
          <a:prstGeom prst="ellipse">
            <a:avLst/>
          </a:prstGeom>
          <a:solidFill>
            <a:srgbClr val="4A4E5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rot="21180000">
            <a:off x="9265615" y="502920"/>
            <a:ext cx="2286000" cy="822960"/>
          </a:xfrm>
          <a:prstGeom prst="rect">
            <a:avLst/>
          </a:prstGeom>
          <a:noFill/>
          <a:ln w="2540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rot="21180000">
            <a:off x="9265615" y="502920"/>
            <a:ext cx="2286000" cy="822960"/>
          </a:xfrm>
          <a:prstGeom prst="rect">
            <a:avLst/>
          </a:prstGeom>
          <a:noFill/>
        </p:spPr>
        <p:txBody>
          <a:bodyPr wrap="square" anchor="ctr" lIns="0" rIns="0" tIns="0" bIns="0">
            <a:noAutofit/>
          </a:bodyPr>
          <a:lstStyle/>
          <a:p>
            <a:pPr algn="ctr">
              <a:spcBef>
                <a:spcPts val="0"/>
              </a:spcBef>
              <a:spcAft>
                <a:spcPts val="100"/>
              </a:spcAft>
            </a:pPr>
            <a:r>
              <a:rPr sz="1300" b="1">
                <a:solidFill>
                  <a:srgbClr val="C9A227"/>
                </a:solidFill>
                <a:latin typeface="Courier New"/>
              </a:rPr>
              <a:t>PHASE 5</a:t>
            </a:r>
          </a:p>
          <a:p>
            <a:pPr algn="ctr">
              <a:spcBef>
                <a:spcPts val="0"/>
              </a:spcBef>
              <a:spcAft>
                <a:spcPts val="100"/>
              </a:spcAft>
            </a:pPr>
            <a:r>
              <a:rPr sz="1300" b="1">
                <a:solidFill>
                  <a:srgbClr val="C9A227"/>
                </a:solidFill>
                <a:latin typeface="Courier New"/>
              </a:rPr>
              <a:t>LOCKED</a:t>
            </a:r>
          </a:p>
        </p:txBody>
      </p:sp>
      <p:sp>
        <p:nvSpPr>
          <p:cNvPr id="115" name="TextBox 114"/>
          <p:cNvSpPr txBox="1"/>
          <p:nvPr/>
        </p:nvSpPr>
        <p:spPr>
          <a:xfrm>
            <a:off x="822960" y="1554480"/>
            <a:ext cx="10545775" cy="1371600"/>
          </a:xfrm>
          <a:prstGeom prst="rect">
            <a:avLst/>
          </a:prstGeom>
          <a:noFill/>
        </p:spPr>
        <p:txBody>
          <a:bodyPr wrap="square" anchor="ctr" lIns="0" rIns="0" tIns="0" bIns="0">
            <a:noAutofit/>
          </a:bodyPr>
          <a:lstStyle/>
          <a:p>
            <a:pPr algn="ctr"/>
            <a:r>
              <a:rPr sz="6200" b="1">
                <a:solidFill>
                  <a:srgbClr val="F2F0EA"/>
                </a:solidFill>
                <a:effectLst>
                  <a:glow rad="100584">
                    <a:srgbClr val="FF6B6B">
                      <a:alpha val="62000"/>
                    </a:srgbClr>
                  </a:glow>
                </a:effectLst>
                <a:latin typeface="Impact"/>
              </a:rPr>
              <a:t>START ROUND 0.</a:t>
            </a:r>
          </a:p>
        </p:txBody>
      </p:sp>
      <p:sp>
        <p:nvSpPr>
          <p:cNvPr id="116" name="TextBox 115"/>
          <p:cNvSpPr txBox="1"/>
          <p:nvPr/>
        </p:nvSpPr>
        <p:spPr>
          <a:xfrm>
            <a:off x="1280160" y="3063240"/>
            <a:ext cx="9631375" cy="594360"/>
          </a:xfrm>
          <a:prstGeom prst="rect">
            <a:avLst/>
          </a:prstGeom>
          <a:noFill/>
        </p:spPr>
        <p:txBody>
          <a:bodyPr wrap="square" anchor="t" lIns="0" rIns="0" tIns="0" bIns="0">
            <a:noAutofit/>
          </a:bodyPr>
          <a:lstStyle/>
          <a:p>
            <a:pPr algn="ctr">
              <a:spcBef>
                <a:spcPts val="0"/>
              </a:spcBef>
              <a:spcAft>
                <a:spcPts val="0"/>
              </a:spcAft>
            </a:pPr>
            <a:r>
              <a:rPr sz="1600" b="0">
                <a:solidFill>
                  <a:srgbClr val="F2F0EA"/>
                </a:solidFill>
                <a:latin typeface="Arial"/>
              </a:rPr>
              <a:t>Download the dataset. The clock is already running.</a:t>
            </a:r>
          </a:p>
        </p:txBody>
      </p:sp>
      <p:sp>
        <p:nvSpPr>
          <p:cNvPr id="117" name="Rectangle 116"/>
          <p:cNvSpPr/>
          <p:nvPr/>
        </p:nvSpPr>
        <p:spPr>
          <a:xfrm>
            <a:off x="2218791" y="4032503"/>
            <a:ext cx="7863840" cy="9601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2163927" y="3977639"/>
            <a:ext cx="7863840" cy="960120"/>
          </a:xfrm>
          <a:prstGeom prst="rect">
            <a:avLst/>
          </a:prstGeom>
          <a:solidFill>
            <a:srgbClr val="000000"/>
          </a:solidFill>
          <a:ln w="38100">
            <a:solidFill>
              <a:srgbClr val="E2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2163927" y="3977639"/>
            <a:ext cx="7863840" cy="960120"/>
          </a:xfrm>
          <a:prstGeom prst="rect">
            <a:avLst/>
          </a:prstGeom>
          <a:noFill/>
        </p:spPr>
        <p:txBody>
          <a:bodyPr wrap="square" anchor="ctr" lIns="0" rIns="0" tIns="0" bIns="0">
            <a:noAutofit/>
          </a:bodyPr>
          <a:lstStyle/>
          <a:p>
            <a:pPr algn="ctr">
              <a:spcBef>
                <a:spcPts val="0"/>
              </a:spcBef>
              <a:spcAft>
                <a:spcPts val="0"/>
              </a:spcAft>
            </a:pPr>
            <a:r>
              <a:rPr sz="1900" b="1">
                <a:solidFill>
                  <a:srgbClr val="F2F0EA"/>
                </a:solidFill>
                <a:latin typeface="Courier New"/>
              </a:rPr>
              <a:t>https://doomsdayalgorithm-5f1e8.web.app</a:t>
            </a:r>
          </a:p>
        </p:txBody>
      </p:sp>
      <p:sp>
        <p:nvSpPr>
          <p:cNvPr id="120" name="TextBox 119"/>
          <p:cNvSpPr txBox="1"/>
          <p:nvPr/>
        </p:nvSpPr>
        <p:spPr>
          <a:xfrm>
            <a:off x="1280160" y="5257800"/>
            <a:ext cx="9631375" cy="457200"/>
          </a:xfrm>
          <a:prstGeom prst="rect">
            <a:avLst/>
          </a:prstGeom>
          <a:noFill/>
        </p:spPr>
        <p:txBody>
          <a:bodyPr wrap="square" anchor="t" lIns="0" rIns="0" tIns="0" bIns="0">
            <a:noAutofit/>
          </a:bodyPr>
          <a:lstStyle/>
          <a:p>
            <a:pPr algn="ctr">
              <a:spcBef>
                <a:spcPts val="0"/>
              </a:spcBef>
              <a:spcAft>
                <a:spcPts val="0"/>
              </a:spcAft>
            </a:pPr>
            <a:r>
              <a:rPr sz="1250" b="1">
                <a:solidFill>
                  <a:srgbClr val="C9A227"/>
                </a:solidFill>
                <a:latin typeface="Courier New"/>
              </a:rPr>
              <a:t>V-TAPP 2026  ·  DATA SCIENCE CLUB, VIT-AP</a:t>
            </a:r>
          </a:p>
        </p:txBody>
      </p:sp>
      <p:sp>
        <p:nvSpPr>
          <p:cNvPr id="121" name="Rectangle 120"/>
          <p:cNvSpPr/>
          <p:nvPr/>
        </p:nvSpPr>
        <p:spPr>
          <a:xfrm>
            <a:off x="0" y="6473952"/>
            <a:ext cx="12191695" cy="38404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Parallelogram 121"/>
          <p:cNvSpPr/>
          <p:nvPr/>
        </p:nvSpPr>
        <p:spPr>
          <a:xfrm>
            <a:off x="-441655" y="6473952"/>
            <a:ext cx="441655" cy="384048"/>
          </a:xfrm>
          <a:prstGeom prst="parallelogram">
            <a:avLst>
              <a:gd name="adj" fmla="val 55000"/>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Parallelogram 122"/>
          <p:cNvSpPr/>
          <p:nvPr/>
        </p:nvSpPr>
        <p:spPr>
          <a:xfrm>
            <a:off x="0" y="6473952"/>
            <a:ext cx="441655" cy="384048"/>
          </a:xfrm>
          <a:prstGeom prst="parallelogram">
            <a:avLst>
              <a:gd name="adj" fmla="val 55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Parallelogram 123"/>
          <p:cNvSpPr/>
          <p:nvPr/>
        </p:nvSpPr>
        <p:spPr>
          <a:xfrm>
            <a:off x="441655" y="6473952"/>
            <a:ext cx="441655" cy="384048"/>
          </a:xfrm>
          <a:prstGeom prst="parallelogram">
            <a:avLst>
              <a:gd name="adj" fmla="val 55000"/>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Parallelogram 124"/>
          <p:cNvSpPr/>
          <p:nvPr/>
        </p:nvSpPr>
        <p:spPr>
          <a:xfrm>
            <a:off x="883310" y="6473952"/>
            <a:ext cx="441655" cy="384048"/>
          </a:xfrm>
          <a:prstGeom prst="parallelogram">
            <a:avLst>
              <a:gd name="adj" fmla="val 55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Parallelogram 125"/>
          <p:cNvSpPr/>
          <p:nvPr/>
        </p:nvSpPr>
        <p:spPr>
          <a:xfrm>
            <a:off x="1324965" y="6473952"/>
            <a:ext cx="441655" cy="384048"/>
          </a:xfrm>
          <a:prstGeom prst="parallelogram">
            <a:avLst>
              <a:gd name="adj" fmla="val 55000"/>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Parallelogram 126"/>
          <p:cNvSpPr/>
          <p:nvPr/>
        </p:nvSpPr>
        <p:spPr>
          <a:xfrm>
            <a:off x="1766620" y="6473952"/>
            <a:ext cx="441655" cy="384048"/>
          </a:xfrm>
          <a:prstGeom prst="parallelogram">
            <a:avLst>
              <a:gd name="adj" fmla="val 55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Parallelogram 127"/>
          <p:cNvSpPr/>
          <p:nvPr/>
        </p:nvSpPr>
        <p:spPr>
          <a:xfrm>
            <a:off x="2208275" y="6473952"/>
            <a:ext cx="441655" cy="384048"/>
          </a:xfrm>
          <a:prstGeom prst="parallelogram">
            <a:avLst>
              <a:gd name="adj" fmla="val 55000"/>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Parallelogram 128"/>
          <p:cNvSpPr/>
          <p:nvPr/>
        </p:nvSpPr>
        <p:spPr>
          <a:xfrm>
            <a:off x="2649931" y="6473952"/>
            <a:ext cx="441655" cy="384048"/>
          </a:xfrm>
          <a:prstGeom prst="parallelogram">
            <a:avLst>
              <a:gd name="adj" fmla="val 55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Parallelogram 129"/>
          <p:cNvSpPr/>
          <p:nvPr/>
        </p:nvSpPr>
        <p:spPr>
          <a:xfrm>
            <a:off x="3091586" y="6473952"/>
            <a:ext cx="441655" cy="384048"/>
          </a:xfrm>
          <a:prstGeom prst="parallelogram">
            <a:avLst>
              <a:gd name="adj" fmla="val 55000"/>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Parallelogram 130"/>
          <p:cNvSpPr/>
          <p:nvPr/>
        </p:nvSpPr>
        <p:spPr>
          <a:xfrm>
            <a:off x="3533241" y="6473952"/>
            <a:ext cx="441655" cy="384048"/>
          </a:xfrm>
          <a:prstGeom prst="parallelogram">
            <a:avLst>
              <a:gd name="adj" fmla="val 55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Parallelogram 131"/>
          <p:cNvSpPr/>
          <p:nvPr/>
        </p:nvSpPr>
        <p:spPr>
          <a:xfrm>
            <a:off x="3974896" y="6473952"/>
            <a:ext cx="441655" cy="384048"/>
          </a:xfrm>
          <a:prstGeom prst="parallelogram">
            <a:avLst>
              <a:gd name="adj" fmla="val 55000"/>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Parallelogram 132"/>
          <p:cNvSpPr/>
          <p:nvPr/>
        </p:nvSpPr>
        <p:spPr>
          <a:xfrm>
            <a:off x="4416551" y="6473952"/>
            <a:ext cx="441655" cy="384048"/>
          </a:xfrm>
          <a:prstGeom prst="parallelogram">
            <a:avLst>
              <a:gd name="adj" fmla="val 55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Parallelogram 133"/>
          <p:cNvSpPr/>
          <p:nvPr/>
        </p:nvSpPr>
        <p:spPr>
          <a:xfrm>
            <a:off x="4858207" y="6473952"/>
            <a:ext cx="441655" cy="384048"/>
          </a:xfrm>
          <a:prstGeom prst="parallelogram">
            <a:avLst>
              <a:gd name="adj" fmla="val 55000"/>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Parallelogram 134"/>
          <p:cNvSpPr/>
          <p:nvPr/>
        </p:nvSpPr>
        <p:spPr>
          <a:xfrm>
            <a:off x="5299862" y="6473952"/>
            <a:ext cx="441655" cy="384048"/>
          </a:xfrm>
          <a:prstGeom prst="parallelogram">
            <a:avLst>
              <a:gd name="adj" fmla="val 55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Parallelogram 135"/>
          <p:cNvSpPr/>
          <p:nvPr/>
        </p:nvSpPr>
        <p:spPr>
          <a:xfrm>
            <a:off x="5741517" y="6473952"/>
            <a:ext cx="441655" cy="384048"/>
          </a:xfrm>
          <a:prstGeom prst="parallelogram">
            <a:avLst>
              <a:gd name="adj" fmla="val 55000"/>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Parallelogram 136"/>
          <p:cNvSpPr/>
          <p:nvPr/>
        </p:nvSpPr>
        <p:spPr>
          <a:xfrm>
            <a:off x="6183172" y="6473952"/>
            <a:ext cx="441655" cy="384048"/>
          </a:xfrm>
          <a:prstGeom prst="parallelogram">
            <a:avLst>
              <a:gd name="adj" fmla="val 55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Parallelogram 137"/>
          <p:cNvSpPr/>
          <p:nvPr/>
        </p:nvSpPr>
        <p:spPr>
          <a:xfrm>
            <a:off x="6624827" y="6473952"/>
            <a:ext cx="441655" cy="384048"/>
          </a:xfrm>
          <a:prstGeom prst="parallelogram">
            <a:avLst>
              <a:gd name="adj" fmla="val 55000"/>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Parallelogram 138"/>
          <p:cNvSpPr/>
          <p:nvPr/>
        </p:nvSpPr>
        <p:spPr>
          <a:xfrm>
            <a:off x="7066483" y="6473952"/>
            <a:ext cx="441655" cy="384048"/>
          </a:xfrm>
          <a:prstGeom prst="parallelogram">
            <a:avLst>
              <a:gd name="adj" fmla="val 55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Parallelogram 139"/>
          <p:cNvSpPr/>
          <p:nvPr/>
        </p:nvSpPr>
        <p:spPr>
          <a:xfrm>
            <a:off x="7508138" y="6473952"/>
            <a:ext cx="441655" cy="384048"/>
          </a:xfrm>
          <a:prstGeom prst="parallelogram">
            <a:avLst>
              <a:gd name="adj" fmla="val 55000"/>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Parallelogram 140"/>
          <p:cNvSpPr/>
          <p:nvPr/>
        </p:nvSpPr>
        <p:spPr>
          <a:xfrm>
            <a:off x="7949793" y="6473952"/>
            <a:ext cx="441655" cy="384048"/>
          </a:xfrm>
          <a:prstGeom prst="parallelogram">
            <a:avLst>
              <a:gd name="adj" fmla="val 55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Parallelogram 141"/>
          <p:cNvSpPr/>
          <p:nvPr/>
        </p:nvSpPr>
        <p:spPr>
          <a:xfrm>
            <a:off x="8391448" y="6473952"/>
            <a:ext cx="441655" cy="384048"/>
          </a:xfrm>
          <a:prstGeom prst="parallelogram">
            <a:avLst>
              <a:gd name="adj" fmla="val 55000"/>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Parallelogram 142"/>
          <p:cNvSpPr/>
          <p:nvPr/>
        </p:nvSpPr>
        <p:spPr>
          <a:xfrm>
            <a:off x="8833103" y="6473952"/>
            <a:ext cx="441655" cy="384048"/>
          </a:xfrm>
          <a:prstGeom prst="parallelogram">
            <a:avLst>
              <a:gd name="adj" fmla="val 55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Parallelogram 143"/>
          <p:cNvSpPr/>
          <p:nvPr/>
        </p:nvSpPr>
        <p:spPr>
          <a:xfrm>
            <a:off x="9274759" y="6473952"/>
            <a:ext cx="441655" cy="384048"/>
          </a:xfrm>
          <a:prstGeom prst="parallelogram">
            <a:avLst>
              <a:gd name="adj" fmla="val 55000"/>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Parallelogram 144"/>
          <p:cNvSpPr/>
          <p:nvPr/>
        </p:nvSpPr>
        <p:spPr>
          <a:xfrm>
            <a:off x="9716414" y="6473952"/>
            <a:ext cx="441655" cy="384048"/>
          </a:xfrm>
          <a:prstGeom prst="parallelogram">
            <a:avLst>
              <a:gd name="adj" fmla="val 55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Parallelogram 145"/>
          <p:cNvSpPr/>
          <p:nvPr/>
        </p:nvSpPr>
        <p:spPr>
          <a:xfrm>
            <a:off x="10158069" y="6473952"/>
            <a:ext cx="441655" cy="384048"/>
          </a:xfrm>
          <a:prstGeom prst="parallelogram">
            <a:avLst>
              <a:gd name="adj" fmla="val 55000"/>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Parallelogram 146"/>
          <p:cNvSpPr/>
          <p:nvPr/>
        </p:nvSpPr>
        <p:spPr>
          <a:xfrm>
            <a:off x="10599724" y="6473952"/>
            <a:ext cx="441655" cy="384048"/>
          </a:xfrm>
          <a:prstGeom prst="parallelogram">
            <a:avLst>
              <a:gd name="adj" fmla="val 55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Parallelogram 147"/>
          <p:cNvSpPr/>
          <p:nvPr/>
        </p:nvSpPr>
        <p:spPr>
          <a:xfrm>
            <a:off x="11041379" y="6473952"/>
            <a:ext cx="441655" cy="384048"/>
          </a:xfrm>
          <a:prstGeom prst="parallelogram">
            <a:avLst>
              <a:gd name="adj" fmla="val 55000"/>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Parallelogram 148"/>
          <p:cNvSpPr/>
          <p:nvPr/>
        </p:nvSpPr>
        <p:spPr>
          <a:xfrm>
            <a:off x="11483035" y="6473952"/>
            <a:ext cx="441655" cy="384048"/>
          </a:xfrm>
          <a:prstGeom prst="parallelogram">
            <a:avLst>
              <a:gd name="adj" fmla="val 55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Parallelogram 149"/>
          <p:cNvSpPr/>
          <p:nvPr/>
        </p:nvSpPr>
        <p:spPr>
          <a:xfrm>
            <a:off x="11924690" y="6473952"/>
            <a:ext cx="441655" cy="384048"/>
          </a:xfrm>
          <a:prstGeom prst="parallelogram">
            <a:avLst>
              <a:gd name="adj" fmla="val 55000"/>
            </a:avLst>
          </a:prstGeom>
          <a:solidFill>
            <a:srgbClr val="E2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Parallelogram 150"/>
          <p:cNvSpPr/>
          <p:nvPr/>
        </p:nvSpPr>
        <p:spPr>
          <a:xfrm>
            <a:off x="12366345" y="6473952"/>
            <a:ext cx="441655" cy="384048"/>
          </a:xfrm>
          <a:prstGeom prst="parallelogram">
            <a:avLst>
              <a:gd name="adj" fmla="val 55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